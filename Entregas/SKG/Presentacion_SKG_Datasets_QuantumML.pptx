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8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2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7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3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2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4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0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9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3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3075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9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71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6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49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9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5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03498"/>
            <a:ext cx="69855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chemeClr val="bg2">
                    <a:lumMod val="75000"/>
                  </a:schemeClr>
                </a:solidFill>
              </a:rPr>
              <a:t>La Evolución de la Ciencia de Datos hacia la Compu- </a:t>
            </a:r>
          </a:p>
          <a:p>
            <a:pPr algn="ctr"/>
            <a:r>
              <a:rPr lang="es-419" sz="2000" b="1" dirty="0">
                <a:solidFill>
                  <a:schemeClr val="bg2">
                    <a:lumMod val="75000"/>
                  </a:schemeClr>
                </a:solidFill>
              </a:rPr>
              <a:t>tación Cuántica: Análisis de la Ventaja Cuántica en Ca- </a:t>
            </a:r>
          </a:p>
          <a:p>
            <a:pPr algn="ctr"/>
            <a:r>
              <a:rPr lang="es-419" sz="2000" b="1" dirty="0">
                <a:solidFill>
                  <a:schemeClr val="bg2">
                    <a:lumMod val="75000"/>
                  </a:schemeClr>
                </a:solidFill>
              </a:rPr>
              <a:t>sos Aplicados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rPr dirty="0" err="1"/>
              <a:t>Solicitud</a:t>
            </a:r>
            <a:r>
              <a:rPr dirty="0"/>
              <a:t> de Datasets para </a:t>
            </a:r>
            <a:r>
              <a:rPr dirty="0" err="1"/>
              <a:t>Pruebas</a:t>
            </a:r>
            <a:r>
              <a:rPr dirty="0"/>
              <a:t> de </a:t>
            </a:r>
            <a:r>
              <a:rPr dirty="0" err="1"/>
              <a:t>Concepto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Juan David Prada Malagón</a:t>
            </a:r>
          </a:p>
          <a:p>
            <a:r>
              <a:t>Científico de Datos Sr. - SKG Tecnología</a:t>
            </a:r>
          </a:p>
          <a:p>
            <a:r>
              <a:t>UNIR - Máster en Investigación en Ingeniería de Software</a:t>
            </a:r>
          </a:p>
          <a:p>
            <a:r>
              <a:t>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¿Qué estamos investigando?</a:t>
            </a:r>
          </a:p>
          <a:p>
            <a:pPr lvl="1"/>
            <a:r>
              <a:t>Comparativa entre Algoritmos Cuánticos y Algoritmos Clásicos de ML</a:t>
            </a:r>
          </a:p>
          <a:p>
            <a:pPr lvl="1"/>
            <a:r>
              <a:t>Evaluar ventajas y limitaciones de la computación cuántica</a:t>
            </a:r>
          </a:p>
          <a:p>
            <a:pPr lvl="1"/>
            <a:r>
              <a:t>Aplicación a problemas reales de negocio</a:t>
            </a:r>
          </a:p>
          <a:p>
            <a:endParaRPr/>
          </a:p>
          <a:p>
            <a:pPr>
              <a:defRPr b="1"/>
            </a:pPr>
            <a:r>
              <a:t>Casos de Uso:</a:t>
            </a:r>
          </a:p>
          <a:p>
            <a:pPr lvl="1"/>
            <a:r>
              <a:t>CLASIFICACIÓN - Predicción de categorías</a:t>
            </a:r>
          </a:p>
          <a:p>
            <a:pPr lvl="1"/>
            <a:r>
              <a:t>REGRESIÓN - Predicción de valores numéricos</a:t>
            </a:r>
          </a:p>
          <a:p>
            <a:pPr lvl="1"/>
            <a:r>
              <a:t>OPTIMIZACIÓN - Problemas combinatorios complejos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de Uso 1: CLASIFICACIÓN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Objetivo: Predecir una variable categórica</a:t>
            </a:r>
          </a:p>
          <a:p>
            <a:endParaRPr/>
          </a:p>
          <a:p>
            <a:pPr>
              <a:defRPr b="1"/>
            </a:pPr>
            <a:r>
              <a:t>Opciones de Aplicación en SKG:</a:t>
            </a:r>
          </a:p>
          <a:p>
            <a:pPr lvl="1"/>
            <a:r>
              <a:t>Opción A: Clasificación de incidentes de tráfico (tipo de evento o nivel de severidad) — Movilidad de Bogotá</a:t>
            </a:r>
          </a:p>
          <a:p>
            <a:pPr lvl="1"/>
            <a:r>
              <a:t>Opción B: Clasificación de alertas o eventos en sistemas de monitoreo ambiental — CAR / PESCAR</a:t>
            </a:r>
          </a:p>
          <a:p>
            <a:endParaRPr/>
          </a:p>
          <a:p>
            <a:pPr>
              <a:defRPr b="1"/>
            </a:pPr>
            <a:r>
              <a:t>Modelos Cuánticos: Quantum Kernel SVM, VQC</a:t>
            </a:r>
          </a:p>
          <a:p>
            <a:pPr>
              <a:defRPr b="1"/>
            </a:pPr>
            <a:r>
              <a:t>Modelos Clásicos: SVM, Random Forest, XGBoost, Gradient Boosting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de Uso 2: REGRESIÓN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Predecir</a:t>
            </a:r>
            <a:r>
              <a:rPr dirty="0"/>
              <a:t> un valor </a:t>
            </a:r>
            <a:r>
              <a:rPr dirty="0" err="1"/>
              <a:t>numérico</a:t>
            </a:r>
            <a:r>
              <a:rPr dirty="0"/>
              <a:t> continuo</a:t>
            </a:r>
          </a:p>
          <a:p>
            <a:endParaRPr dirty="0"/>
          </a:p>
          <a:p>
            <a:pPr>
              <a:defRPr b="1"/>
            </a:pPr>
            <a:r>
              <a:rPr dirty="0" err="1"/>
              <a:t>Ejemplos</a:t>
            </a:r>
            <a:r>
              <a:rPr dirty="0"/>
              <a:t> de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SKG:</a:t>
            </a:r>
          </a:p>
          <a:p>
            <a:pPr lvl="1"/>
            <a:r>
              <a:rPr lang="es-419" dirty="0"/>
              <a:t>Predicción de Velocidades</a:t>
            </a:r>
            <a:endParaRPr dirty="0"/>
          </a:p>
          <a:p>
            <a:pPr lvl="1"/>
            <a:r>
              <a:rPr dirty="0" err="1"/>
              <a:t>Predicción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de </a:t>
            </a:r>
            <a:r>
              <a:rPr dirty="0" err="1"/>
              <a:t>recursos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Cuánticos</a:t>
            </a:r>
            <a:r>
              <a:rPr dirty="0"/>
              <a:t>: VQR, Quantum Kernel Regression</a:t>
            </a:r>
          </a:p>
          <a:p>
            <a:pPr>
              <a:defRPr b="1"/>
            </a:pP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: SVR, Random Forest,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Regresión</a:t>
            </a:r>
            <a:r>
              <a:rPr dirty="0"/>
              <a:t> Lineal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de Uso 3: OPTIMIZACIÓN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Objetivo</a:t>
            </a:r>
            <a:r>
              <a:rPr dirty="0"/>
              <a:t>: Resolver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combinatorios</a:t>
            </a:r>
            <a:r>
              <a:rPr dirty="0"/>
              <a:t> de </a:t>
            </a:r>
            <a:r>
              <a:rPr dirty="0" err="1"/>
              <a:t>optimización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 err="1"/>
              <a:t>Ejemplos</a:t>
            </a:r>
            <a:r>
              <a:rPr dirty="0"/>
              <a:t> de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SKG:</a:t>
            </a:r>
          </a:p>
          <a:p>
            <a:pPr lvl="1"/>
            <a:r>
              <a:rPr lang="es-419" dirty="0"/>
              <a:t>Optimización de Recursos en Campo </a:t>
            </a:r>
          </a:p>
          <a:p>
            <a:pPr lvl="1"/>
            <a:r>
              <a:rPr lang="es-419" dirty="0"/>
              <a:t>Optimización de Instalación de Camáras LPR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Cuánticos</a:t>
            </a:r>
            <a:r>
              <a:rPr dirty="0"/>
              <a:t>: QAOA, Quantum Annealing</a:t>
            </a:r>
          </a:p>
          <a:p>
            <a:pPr>
              <a:defRPr b="1"/>
            </a:pP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Clásicos</a:t>
            </a:r>
            <a:r>
              <a:rPr dirty="0"/>
              <a:t>: Genetic Algorithms, Simulated Annealing, Branch &amp; Bound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de Datasets -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b="1"/>
            </a:pPr>
            <a:r>
              <a:t>Necesitamos 3 datasets (uno por caso de uso)</a:t>
            </a:r>
          </a:p>
          <a:p>
            <a:endParaRPr/>
          </a:p>
          <a:p>
            <a:r>
              <a:t>Datos reales de SKG (anonimizados si es necesario)</a:t>
            </a:r>
          </a:p>
          <a:p>
            <a:r>
              <a:t>Tamaño: Mínimo 500 registros, ideal 1000-5000</a:t>
            </a:r>
          </a:p>
          <a:p>
            <a:r>
              <a:t>Formato: CSV, Excel o base de datos</a:t>
            </a:r>
          </a:p>
          <a:p>
            <a:r>
              <a:t>Calidad: Datos limpios o info sobre valores faltantes</a:t>
            </a:r>
          </a:p>
          <a:p>
            <a:r>
              <a:t>Documentación: Descripción de variables y contexto</a:t>
            </a:r>
          </a:p>
          <a:p>
            <a:endParaRPr/>
          </a:p>
          <a:p>
            <a:pPr>
              <a:defRPr b="1"/>
            </a:pPr>
            <a:r>
              <a:t>Privacidad:</a:t>
            </a:r>
          </a:p>
          <a:p>
            <a:pPr lvl="1"/>
            <a:r>
              <a:t>Anonimización/pseudonimización de datos sensibles</a:t>
            </a:r>
          </a:p>
          <a:p>
            <a:pPr lvl="1"/>
            <a:r>
              <a:t>Cumplimiento GDPR - Uso exclusivo académico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1 - CLASIFICACIÓN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b="1"/>
            </a:pPr>
            <a:r>
              <a:t>Variable Objetivo:</a:t>
            </a:r>
          </a:p>
          <a:p>
            <a:pPr lvl="1"/>
            <a:r>
              <a:t>Tipo de incidente o nivel de severidad / Tipo de alerta ambiental (categórica)</a:t>
            </a:r>
          </a:p>
          <a:p>
            <a:endParaRPr/>
          </a:p>
          <a:p>
            <a:pPr>
              <a:defRPr b="1"/>
            </a:pPr>
            <a:r>
              <a:t>Features (variables predictoras):</a:t>
            </a:r>
          </a:p>
          <a:p>
            <a:pPr lvl="1"/>
            <a:r>
              <a:t>Cantidad: 5-20 variables</a:t>
            </a:r>
          </a:p>
          <a:p>
            <a:pPr lvl="1"/>
            <a:r>
              <a:t>Tipos: Numéricas y/o categóricas</a:t>
            </a:r>
          </a:p>
          <a:p>
            <a:endParaRPr/>
          </a:p>
          <a:p>
            <a:pPr>
              <a:defRPr b="1"/>
            </a:pPr>
            <a:r>
              <a:t>Ejemplos de variables (Opción A - Tráfico):</a:t>
            </a:r>
          </a:p>
          <a:p>
            <a:pPr lvl="1"/>
            <a:r>
              <a:t>Segmento vial, hora, día, condiciones climáticas, velocidad, volumen vehicular</a:t>
            </a:r>
          </a:p>
          <a:p>
            <a:endParaRPr/>
          </a:p>
          <a:p>
            <a:pPr>
              <a:defRPr b="1"/>
            </a:pPr>
            <a:r>
              <a:t>Ejemplos de variables (Opción B - Ambiental):</a:t>
            </a:r>
          </a:p>
          <a:p>
            <a:pPr lvl="1"/>
            <a:r>
              <a:t>Lecturas de sensores, ubicación, fecha/hora, parámetros ambientales medidos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2 - REGRESIÓN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b="1"/>
            </a:pPr>
            <a:r>
              <a:rPr dirty="0"/>
              <a:t>Variable </a:t>
            </a:r>
            <a:r>
              <a:rPr dirty="0" err="1"/>
              <a:t>Objetivo</a:t>
            </a:r>
            <a:r>
              <a:rPr dirty="0"/>
              <a:t>:</a:t>
            </a:r>
          </a:p>
          <a:p>
            <a:pPr lvl="1"/>
            <a:r>
              <a:rPr dirty="0" err="1"/>
              <a:t>Numérica</a:t>
            </a:r>
            <a:r>
              <a:rPr dirty="0"/>
              <a:t> continua (</a:t>
            </a:r>
            <a:r>
              <a:rPr dirty="0" err="1"/>
              <a:t>ej</a:t>
            </a:r>
            <a:r>
              <a:rPr dirty="0"/>
              <a:t>: </a:t>
            </a:r>
            <a:r>
              <a:rPr dirty="0" err="1"/>
              <a:t>precio</a:t>
            </a:r>
            <a:r>
              <a:rPr dirty="0"/>
              <a:t>, </a:t>
            </a:r>
            <a:r>
              <a:rPr dirty="0" err="1"/>
              <a:t>tiempo</a:t>
            </a:r>
            <a:r>
              <a:rPr dirty="0"/>
              <a:t>, </a:t>
            </a:r>
            <a:r>
              <a:rPr dirty="0" err="1"/>
              <a:t>cantidad</a:t>
            </a:r>
            <a:r>
              <a:rPr dirty="0"/>
              <a:t>)</a:t>
            </a:r>
          </a:p>
          <a:p>
            <a:endParaRPr dirty="0"/>
          </a:p>
          <a:p>
            <a:pPr>
              <a:defRPr b="1"/>
            </a:pPr>
            <a:r>
              <a:rPr dirty="0"/>
              <a:t>Features (variables </a:t>
            </a:r>
            <a:r>
              <a:rPr dirty="0" err="1"/>
              <a:t>predictoras</a:t>
            </a:r>
            <a:r>
              <a:rPr dirty="0"/>
              <a:t>):</a:t>
            </a:r>
          </a:p>
          <a:p>
            <a:pPr lvl="1"/>
            <a:r>
              <a:rPr dirty="0" err="1"/>
              <a:t>Cantidad</a:t>
            </a:r>
            <a:r>
              <a:rPr dirty="0"/>
              <a:t>: 5-20 variables</a:t>
            </a:r>
          </a:p>
          <a:p>
            <a:pPr lvl="1"/>
            <a:r>
              <a:rPr dirty="0" err="1"/>
              <a:t>Tipos</a:t>
            </a:r>
            <a:r>
              <a:rPr dirty="0"/>
              <a:t>: </a:t>
            </a:r>
            <a:r>
              <a:rPr dirty="0" err="1"/>
              <a:t>Numéricas</a:t>
            </a:r>
            <a:r>
              <a:rPr dirty="0"/>
              <a:t> y/o </a:t>
            </a:r>
            <a:r>
              <a:rPr dirty="0" err="1"/>
              <a:t>categóricas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 err="1"/>
              <a:t>Ejemplos</a:t>
            </a:r>
            <a:r>
              <a:rPr dirty="0"/>
              <a:t> de variables:</a:t>
            </a:r>
          </a:p>
          <a:p>
            <a:pPr lvl="1"/>
            <a:r>
              <a:rPr lang="es-419" dirty="0"/>
              <a:t>Velocidades</a:t>
            </a:r>
          </a:p>
          <a:p>
            <a:pPr lvl="1"/>
            <a:r>
              <a:rPr lang="es-419" dirty="0"/>
              <a:t>Incidentes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3 - OPTIMIZACIÓN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b="1"/>
            </a:pPr>
            <a:r>
              <a:rPr dirty="0"/>
              <a:t>Tipo de </a:t>
            </a:r>
            <a:r>
              <a:rPr dirty="0" err="1"/>
              <a:t>Problema</a:t>
            </a:r>
            <a:r>
              <a:rPr dirty="0"/>
              <a:t>:</a:t>
            </a:r>
          </a:p>
          <a:p>
            <a:pPr lvl="1"/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combinatorio</a:t>
            </a:r>
            <a:r>
              <a:rPr dirty="0"/>
              <a:t> real de SKG</a:t>
            </a:r>
          </a:p>
          <a:p>
            <a:pPr lvl="1"/>
            <a:r>
              <a:rPr dirty="0" err="1"/>
              <a:t>Asignación</a:t>
            </a:r>
            <a:r>
              <a:rPr dirty="0"/>
              <a:t> de N </a:t>
            </a:r>
            <a:r>
              <a:rPr dirty="0" err="1"/>
              <a:t>empleados</a:t>
            </a:r>
            <a:r>
              <a:rPr dirty="0"/>
              <a:t> a M </a:t>
            </a:r>
            <a:r>
              <a:rPr dirty="0" err="1"/>
              <a:t>proyectos</a:t>
            </a:r>
            <a:endParaRPr dirty="0"/>
          </a:p>
          <a:p>
            <a:pPr lvl="1"/>
            <a:r>
              <a:rPr dirty="0"/>
              <a:t>Scheduling de </a:t>
            </a:r>
            <a:r>
              <a:rPr dirty="0" err="1"/>
              <a:t>tareas</a:t>
            </a:r>
            <a:r>
              <a:rPr dirty="0"/>
              <a:t> con </a:t>
            </a:r>
            <a:r>
              <a:rPr dirty="0" err="1"/>
              <a:t>restricciones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/>
              <a:t>Datos </a:t>
            </a:r>
            <a:r>
              <a:rPr dirty="0" err="1"/>
              <a:t>Necesarios</a:t>
            </a:r>
            <a:r>
              <a:rPr dirty="0"/>
              <a:t>:</a:t>
            </a:r>
          </a:p>
          <a:p>
            <a:pPr lvl="1"/>
            <a:r>
              <a:rPr dirty="0" err="1"/>
              <a:t>Elementos</a:t>
            </a:r>
            <a:r>
              <a:rPr dirty="0"/>
              <a:t> a </a:t>
            </a:r>
            <a:r>
              <a:rPr dirty="0" err="1"/>
              <a:t>optimizar</a:t>
            </a:r>
            <a:r>
              <a:rPr dirty="0"/>
              <a:t> (</a:t>
            </a:r>
            <a:r>
              <a:rPr lang="es-419" dirty="0"/>
              <a:t>incidentes, camáras, etc</a:t>
            </a:r>
            <a:r>
              <a:rPr dirty="0"/>
              <a:t>)</a:t>
            </a:r>
          </a:p>
          <a:p>
            <a:pPr lvl="1"/>
            <a:r>
              <a:rPr dirty="0" err="1"/>
              <a:t>Restricciones</a:t>
            </a:r>
            <a:r>
              <a:rPr dirty="0"/>
              <a:t> (</a:t>
            </a:r>
            <a:r>
              <a:rPr dirty="0" err="1"/>
              <a:t>capacidades</a:t>
            </a:r>
            <a:r>
              <a:rPr dirty="0"/>
              <a:t>, </a:t>
            </a:r>
            <a:r>
              <a:rPr dirty="0" err="1"/>
              <a:t>dependencias</a:t>
            </a:r>
            <a:r>
              <a:rPr dirty="0"/>
              <a:t>, </a:t>
            </a:r>
            <a:r>
              <a:rPr dirty="0" err="1"/>
              <a:t>costos</a:t>
            </a:r>
            <a:r>
              <a:rPr dirty="0"/>
              <a:t>)</a:t>
            </a:r>
          </a:p>
          <a:p>
            <a:pPr lvl="1"/>
            <a:r>
              <a:rPr dirty="0" err="1"/>
              <a:t>Función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(</a:t>
            </a:r>
            <a:r>
              <a:rPr dirty="0" err="1"/>
              <a:t>maximizar</a:t>
            </a:r>
            <a:r>
              <a:rPr dirty="0"/>
              <a:t>/</a:t>
            </a:r>
            <a:r>
              <a:rPr dirty="0" err="1"/>
              <a:t>minimizar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)</a:t>
            </a:r>
          </a:p>
          <a:p>
            <a:pPr lvl="1"/>
            <a:r>
              <a:rPr dirty="0" err="1"/>
              <a:t>Tamaño</a:t>
            </a:r>
            <a:r>
              <a:rPr dirty="0"/>
              <a:t>: 10-50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combinatorios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Ejemplo: Clasificación de Incidentes de Tráfico / Alertas Ambientales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b="1"/>
            </a:pPr>
            <a:r>
              <a:t>Opción A: Tipo o severidad de incidente vial en Bogotá</a:t>
            </a:r>
          </a:p>
          <a:p>
            <a:endParaRPr/>
          </a:p>
          <a:p>
            <a:pPr>
              <a:defRPr b="1"/>
            </a:pPr>
            <a:r>
              <a:t>Features sugeridas (Opción A):</a:t>
            </a:r>
          </a:p>
          <a:p>
            <a:pPr lvl="1">
              <a:defRPr sz="1300"/>
            </a:pPr>
            <a:r>
              <a:t>segmento_vial: Identificador del tramo</a:t>
            </a:r>
          </a:p>
          <a:p>
            <a:pPr lvl="1">
              <a:defRPr sz="1300"/>
            </a:pPr>
            <a:r>
              <a:t>hora_dia: Hora del evento</a:t>
            </a:r>
          </a:p>
          <a:p>
            <a:pPr lvl="1">
              <a:defRPr sz="1300"/>
            </a:pPr>
            <a:r>
              <a:t>dia_semana: Lunes a Domingo</a:t>
            </a:r>
          </a:p>
          <a:p>
            <a:pPr lvl="1">
              <a:defRPr sz="1300"/>
            </a:pPr>
            <a:r>
              <a:t>condicion_climatica: Seco, lluvia, niebla</a:t>
            </a:r>
          </a:p>
          <a:p>
            <a:pPr lvl="1">
              <a:defRPr sz="1300"/>
            </a:pPr>
            <a:r>
              <a:t>velocidad_previa: Velocidad promedio anterior</a:t>
            </a:r>
          </a:p>
          <a:p>
            <a:pPr lvl="1">
              <a:defRPr sz="1300"/>
            </a:pPr>
            <a:r>
              <a:t>volumen_vehicular: Cantidad de vehículos</a:t>
            </a:r>
          </a:p>
          <a:p>
            <a:endParaRPr/>
          </a:p>
          <a:p>
            <a:pPr>
              <a:defRPr b="1"/>
            </a:pPr>
            <a:r>
              <a:t>Opción B: Clasificación de alerta ambiental (CAR / PESCAR)</a:t>
            </a:r>
          </a:p>
          <a:p>
            <a:pPr lvl="1">
              <a:defRPr sz="1300"/>
            </a:pPr>
            <a:r>
              <a:t>Lecturas de sensores, ubicación, parámetros medidos (agua, aire, suelo)</a:t>
            </a:r>
          </a:p>
          <a:p>
            <a:endParaRPr/>
          </a:p>
          <a:p>
            <a:pPr>
              <a:defRPr b="1"/>
            </a:pPr>
            <a:r>
              <a:t>Tamaño ideal: 1.000-10.000 registros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Predicción de Duración de Proyectos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 b="1"/>
            </a:pPr>
            <a:r>
              <a:t>Variable Objetivo: duracion_dias (duración real en días)</a:t>
            </a:r>
          </a:p>
          <a:p>
            <a:endParaRPr/>
          </a:p>
          <a:p>
            <a:pPr>
              <a:defRPr b="1"/>
            </a:pPr>
            <a:r>
              <a:t>Features Sugeridas:</a:t>
            </a:r>
          </a:p>
          <a:p>
            <a:pPr lvl="1">
              <a:defRPr sz="1400"/>
            </a:pPr>
            <a:r>
              <a:t>complejidad_estimada: Escala 1-5</a:t>
            </a:r>
          </a:p>
          <a:p>
            <a:pPr lvl="1">
              <a:defRPr sz="1400"/>
            </a:pPr>
            <a:r>
              <a:t>num_desarrolladores: Tamaño del equipo</a:t>
            </a:r>
          </a:p>
          <a:p>
            <a:pPr lvl="1">
              <a:defRPr sz="1400"/>
            </a:pPr>
            <a:r>
              <a:t>tecnologias_usadas: Categorías</a:t>
            </a:r>
          </a:p>
          <a:p>
            <a:pPr lvl="1">
              <a:defRPr sz="1400"/>
            </a:pPr>
            <a:r>
              <a:t>experiencia_team_lead: Años de experiencia</a:t>
            </a:r>
          </a:p>
          <a:p>
            <a:pPr lvl="1">
              <a:defRPr sz="1400"/>
            </a:pPr>
            <a:r>
              <a:t>horas_estimadas: Estimación inicial</a:t>
            </a:r>
          </a:p>
          <a:p>
            <a:pPr lvl="1">
              <a:defRPr sz="1400"/>
            </a:pPr>
            <a:r>
              <a:t>tipo_proyecto: Web/Mobile/Backend/etc.</a:t>
            </a:r>
          </a:p>
          <a:p>
            <a:pPr lvl="1">
              <a:defRPr sz="1400"/>
            </a:pPr>
            <a:r>
              <a:t>cliente_recurrente: Sí/No</a:t>
            </a:r>
          </a:p>
          <a:p>
            <a:pPr lvl="1">
              <a:defRPr sz="1400"/>
            </a:pPr>
            <a:r>
              <a:t>sprints_planificados: Número de sprints</a:t>
            </a:r>
          </a:p>
          <a:p>
            <a:endParaRPr/>
          </a:p>
          <a:p>
            <a:pPr>
              <a:defRPr b="1"/>
            </a:pPr>
            <a:r>
              <a:t>Tamaño ideal: 500-2000 proyectos históricos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Asignación</a:t>
            </a:r>
            <a:r>
              <a:rPr dirty="0"/>
              <a:t> </a:t>
            </a:r>
            <a:r>
              <a:rPr lang="es-419" dirty="0"/>
              <a:t>de agentes a focos de seguridad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 b="1"/>
            </a:pPr>
            <a:r>
              <a:rPr dirty="0" err="1"/>
              <a:t>Problema</a:t>
            </a:r>
            <a:r>
              <a:rPr dirty="0"/>
              <a:t>: N </a:t>
            </a:r>
            <a:r>
              <a:rPr dirty="0" err="1"/>
              <a:t>empleados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, M </a:t>
            </a:r>
            <a:r>
              <a:rPr dirty="0" err="1"/>
              <a:t>proyectos</a:t>
            </a:r>
            <a:endParaRPr dirty="0"/>
          </a:p>
          <a:p>
            <a:pPr>
              <a:defRPr b="1"/>
            </a:pP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Maximizar</a:t>
            </a:r>
            <a:r>
              <a:rPr dirty="0"/>
              <a:t> </a:t>
            </a:r>
            <a:r>
              <a:rPr dirty="0" err="1"/>
              <a:t>eficiencia</a:t>
            </a:r>
            <a:r>
              <a:rPr dirty="0"/>
              <a:t> y </a:t>
            </a:r>
            <a:r>
              <a:rPr dirty="0" err="1"/>
              <a:t>satisfacción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/>
              <a:t>Datos </a:t>
            </a:r>
            <a:r>
              <a:rPr dirty="0" err="1"/>
              <a:t>Necesarios</a:t>
            </a:r>
            <a:r>
              <a:rPr dirty="0"/>
              <a:t>:</a:t>
            </a:r>
          </a:p>
          <a:p>
            <a:pPr lvl="1"/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habilidades</a:t>
            </a:r>
            <a:r>
              <a:rPr dirty="0"/>
              <a:t> (</a:t>
            </a:r>
            <a:r>
              <a:rPr dirty="0" err="1"/>
              <a:t>empleado</a:t>
            </a:r>
            <a:r>
              <a:rPr dirty="0"/>
              <a:t> x </a:t>
            </a:r>
            <a:r>
              <a:rPr dirty="0" err="1"/>
              <a:t>proyecto</a:t>
            </a:r>
            <a:r>
              <a:rPr dirty="0"/>
              <a:t>)</a:t>
            </a:r>
          </a:p>
          <a:p>
            <a:pPr lvl="2"/>
            <a:r>
              <a:rPr dirty="0"/>
              <a:t>Valores 0.0 - 1.0 </a:t>
            </a:r>
            <a:r>
              <a:rPr dirty="0" err="1"/>
              <a:t>indicando</a:t>
            </a:r>
            <a:r>
              <a:rPr dirty="0"/>
              <a:t> match de skills</a:t>
            </a:r>
          </a:p>
          <a:p>
            <a:endParaRPr dirty="0"/>
          </a:p>
          <a:p>
            <a:pPr>
              <a:defRPr b="1"/>
            </a:pPr>
            <a:r>
              <a:rPr dirty="0" err="1"/>
              <a:t>Restricciones</a:t>
            </a:r>
            <a:r>
              <a:rPr dirty="0"/>
              <a:t>:</a:t>
            </a:r>
          </a:p>
          <a:p>
            <a:pPr lvl="1"/>
            <a:r>
              <a:rPr lang="es-419" dirty="0"/>
              <a:t>Numero de agentes</a:t>
            </a:r>
            <a:endParaRPr dirty="0"/>
          </a:p>
          <a:p>
            <a:pPr lvl="1"/>
            <a:r>
              <a:rPr lang="es-419" dirty="0"/>
              <a:t>Focos de seguridad</a:t>
            </a:r>
            <a:endParaRPr dirty="0"/>
          </a:p>
          <a:p>
            <a:pPr lvl="1"/>
            <a:r>
              <a:rPr lang="es-419" dirty="0"/>
              <a:t>Geolocalizacion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 err="1"/>
              <a:t>Tamaño</a:t>
            </a:r>
            <a:r>
              <a:rPr dirty="0"/>
              <a:t> ideal: 20-50 </a:t>
            </a:r>
            <a:r>
              <a:rPr dirty="0" err="1"/>
              <a:t>empleados</a:t>
            </a:r>
            <a:r>
              <a:rPr dirty="0"/>
              <a:t>, 10-30 </a:t>
            </a:r>
            <a:r>
              <a:rPr dirty="0" err="1"/>
              <a:t>proyectos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b="1"/>
            </a:pPr>
            <a:r>
              <a:t>Timeline Estimado:</a:t>
            </a:r>
          </a:p>
          <a:p>
            <a:endParaRPr/>
          </a:p>
          <a:p>
            <a:r>
              <a:t>Semana 1-2: Identificación de datasets candidatos</a:t>
            </a:r>
          </a:p>
          <a:p>
            <a:r>
              <a:t>Semana 3: Anonimización y preparación de documentación</a:t>
            </a:r>
          </a:p>
          <a:p>
            <a:r>
              <a:t>Semana 4: Entrega de datasets y validación inicial</a:t>
            </a:r>
          </a:p>
          <a:p>
            <a:endParaRPr/>
          </a:p>
          <a:p>
            <a:pPr>
              <a:defRPr b="1"/>
            </a:pPr>
            <a:r>
              <a:t>Próximos Pasos:</a:t>
            </a:r>
          </a:p>
          <a:p>
            <a:pPr lvl="1"/>
            <a:r>
              <a:t>Identificar fuentes de datos en SKG</a:t>
            </a:r>
          </a:p>
          <a:p>
            <a:pPr lvl="1"/>
            <a:r>
              <a:t>Evaluar viabilidad técnica y legal</a:t>
            </a:r>
          </a:p>
          <a:p>
            <a:pPr lvl="1"/>
            <a:r>
              <a:t>Coordinar con DPO si hay datos sensibles</a:t>
            </a:r>
          </a:p>
          <a:p>
            <a:pPr lvl="1"/>
            <a:r>
              <a:t>Preparar datasets y documentación</a:t>
            </a:r>
          </a:p>
          <a:p>
            <a:pPr lvl="1"/>
            <a:r>
              <a:t>Reunión de validación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Soporte y Documentación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 b="1"/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necesitamos</a:t>
            </a:r>
            <a:r>
              <a:rPr dirty="0"/>
              <a:t>?</a:t>
            </a:r>
          </a:p>
          <a:p>
            <a:pPr lvl="1"/>
            <a:r>
              <a:rPr dirty="0" err="1"/>
              <a:t>Diccionario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: </a:t>
            </a:r>
            <a:r>
              <a:rPr dirty="0" err="1"/>
              <a:t>Descripción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columna</a:t>
            </a:r>
          </a:p>
          <a:p>
            <a:pPr lvl="1"/>
            <a:r>
              <a:rPr dirty="0" err="1"/>
              <a:t>Contexto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?</a:t>
            </a:r>
          </a:p>
          <a:p>
            <a:pPr lvl="1"/>
            <a:r>
              <a:rPr dirty="0" err="1"/>
              <a:t>Objetivo</a:t>
            </a:r>
            <a:r>
              <a:rPr dirty="0"/>
              <a:t>: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queremos</a:t>
            </a:r>
            <a:r>
              <a:rPr dirty="0"/>
              <a:t> </a:t>
            </a:r>
            <a:r>
              <a:rPr dirty="0" err="1"/>
              <a:t>predecir</a:t>
            </a:r>
            <a:r>
              <a:rPr dirty="0"/>
              <a:t>/</a:t>
            </a:r>
            <a:r>
              <a:rPr dirty="0" err="1"/>
              <a:t>optimizar</a:t>
            </a:r>
            <a:r>
              <a:rPr dirty="0"/>
              <a:t>?</a:t>
            </a:r>
          </a:p>
          <a:p>
            <a:pPr lvl="1"/>
            <a:r>
              <a:rPr dirty="0" err="1"/>
              <a:t>Particularidades</a:t>
            </a:r>
            <a:r>
              <a:rPr dirty="0"/>
              <a:t>: Valores </a:t>
            </a:r>
            <a:r>
              <a:rPr dirty="0" err="1"/>
              <a:t>faltantes</a:t>
            </a:r>
            <a:r>
              <a:rPr dirty="0"/>
              <a:t>, outliers</a:t>
            </a:r>
          </a:p>
          <a:p>
            <a:pPr lvl="1"/>
            <a:r>
              <a:rPr dirty="0" err="1"/>
              <a:t>Consideraciones</a:t>
            </a:r>
            <a:r>
              <a:rPr dirty="0"/>
              <a:t> de </a:t>
            </a:r>
            <a:r>
              <a:rPr dirty="0" err="1"/>
              <a:t>privacidad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/>
              <a:t>Formato de Entrega:</a:t>
            </a:r>
          </a:p>
          <a:p>
            <a:pPr lvl="1"/>
            <a:r>
              <a:rPr dirty="0"/>
              <a:t>dataset_[</a:t>
            </a:r>
            <a:r>
              <a:rPr dirty="0" err="1"/>
              <a:t>tipo</a:t>
            </a:r>
            <a:r>
              <a:rPr dirty="0"/>
              <a:t>]/</a:t>
            </a:r>
          </a:p>
          <a:p>
            <a:pPr lvl="2"/>
            <a:r>
              <a:rPr dirty="0"/>
              <a:t>├── </a:t>
            </a:r>
            <a:r>
              <a:rPr dirty="0" err="1"/>
              <a:t>datos.csv</a:t>
            </a:r>
            <a:endParaRPr dirty="0"/>
          </a:p>
          <a:p>
            <a:pPr lvl="2"/>
            <a:r>
              <a:rPr dirty="0"/>
              <a:t>├── </a:t>
            </a:r>
            <a:r>
              <a:rPr dirty="0" err="1"/>
              <a:t>diccionario_datos.md</a:t>
            </a:r>
            <a:endParaRPr dirty="0"/>
          </a:p>
          <a:p>
            <a:pPr lvl="2"/>
            <a:r>
              <a:rPr dirty="0"/>
              <a:t>└── </a:t>
            </a:r>
            <a:r>
              <a:rPr dirty="0" err="1"/>
              <a:t>README.md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para SKG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b="1"/>
            </a:pPr>
            <a:r>
              <a:rPr dirty="0"/>
              <a:t>Para </a:t>
            </a:r>
            <a:r>
              <a:rPr dirty="0" err="1"/>
              <a:t>el</a:t>
            </a:r>
            <a:r>
              <a:rPr dirty="0"/>
              <a:t> Equipo de Data:</a:t>
            </a:r>
          </a:p>
          <a:p>
            <a:pPr lvl="1"/>
            <a:r>
              <a:rPr dirty="0" err="1"/>
              <a:t>Aprendizaje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computación</a:t>
            </a:r>
            <a:r>
              <a:rPr dirty="0"/>
              <a:t> </a:t>
            </a:r>
            <a:r>
              <a:rPr dirty="0" err="1"/>
              <a:t>cuántica</a:t>
            </a:r>
            <a:r>
              <a:rPr dirty="0"/>
              <a:t> </a:t>
            </a:r>
            <a:r>
              <a:rPr dirty="0" err="1"/>
              <a:t>aplicada</a:t>
            </a:r>
            <a:endParaRPr dirty="0"/>
          </a:p>
          <a:p>
            <a:pPr lvl="1"/>
            <a:r>
              <a:rPr dirty="0" err="1"/>
              <a:t>Participación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investigación</a:t>
            </a:r>
            <a:r>
              <a:rPr dirty="0"/>
              <a:t> de </a:t>
            </a:r>
            <a:r>
              <a:rPr dirty="0" err="1"/>
              <a:t>vanguardia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/>
              <a:t>Para SKG </a:t>
            </a:r>
            <a:r>
              <a:rPr dirty="0" err="1"/>
              <a:t>Tecnología</a:t>
            </a:r>
            <a:r>
              <a:rPr dirty="0"/>
              <a:t>:</a:t>
            </a:r>
          </a:p>
          <a:p>
            <a:pPr lvl="1"/>
            <a:r>
              <a:rPr dirty="0" err="1"/>
              <a:t>Exploración</a:t>
            </a:r>
            <a:r>
              <a:rPr dirty="0"/>
              <a:t> de </a:t>
            </a:r>
            <a:r>
              <a:rPr dirty="0" err="1"/>
              <a:t>tecnologías</a:t>
            </a:r>
            <a:r>
              <a:rPr dirty="0"/>
              <a:t> </a:t>
            </a:r>
            <a:r>
              <a:rPr dirty="0" err="1"/>
              <a:t>emergentes</a:t>
            </a:r>
            <a:endParaRPr dirty="0"/>
          </a:p>
          <a:p>
            <a:pPr lvl="1"/>
            <a:r>
              <a:rPr dirty="0"/>
              <a:t>Insights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reales</a:t>
            </a:r>
          </a:p>
          <a:p>
            <a:pPr lvl="1"/>
            <a:r>
              <a:rPr dirty="0" err="1"/>
              <a:t>Posible</a:t>
            </a:r>
            <a:r>
              <a:rPr dirty="0"/>
              <a:t> </a:t>
            </a:r>
            <a:r>
              <a:rPr dirty="0" err="1"/>
              <a:t>mejora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actuales</a:t>
            </a:r>
            <a:endParaRPr dirty="0"/>
          </a:p>
          <a:p>
            <a:pPr lvl="1"/>
            <a:r>
              <a:rPr dirty="0" err="1"/>
              <a:t>Posicionamiento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innovadora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dirty="0"/>
              <a:t>Para la </a:t>
            </a:r>
            <a:r>
              <a:rPr dirty="0" err="1"/>
              <a:t>Investigación</a:t>
            </a:r>
            <a:r>
              <a:rPr dirty="0"/>
              <a:t>:</a:t>
            </a:r>
          </a:p>
          <a:p>
            <a:pPr lvl="1"/>
            <a:r>
              <a:rPr dirty="0" err="1"/>
              <a:t>Aplicación</a:t>
            </a:r>
            <a:r>
              <a:rPr dirty="0"/>
              <a:t> a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reales (no </a:t>
            </a:r>
            <a:r>
              <a:rPr dirty="0" err="1"/>
              <a:t>académicos</a:t>
            </a:r>
            <a:r>
              <a:rPr dirty="0"/>
              <a:t>)</a:t>
            </a:r>
          </a:p>
          <a:p>
            <a:pPr lvl="1"/>
            <a:r>
              <a:rPr dirty="0" err="1"/>
              <a:t>Publicación</a:t>
            </a:r>
            <a:r>
              <a:rPr dirty="0"/>
              <a:t> con </a:t>
            </a:r>
            <a:r>
              <a:rPr dirty="0" err="1"/>
              <a:t>reconocimiento</a:t>
            </a:r>
            <a:r>
              <a:rPr dirty="0"/>
              <a:t> a SKG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Contacto y Preguntas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b="1"/>
            </a:pPr>
            <a:r>
              <a:t>Investigador Principal:</a:t>
            </a:r>
          </a:p>
          <a:p>
            <a:pPr lvl="1"/>
            <a:r>
              <a:t>Juan David Prada Malagón</a:t>
            </a:r>
          </a:p>
          <a:p>
            <a:pPr lvl="1"/>
            <a:r>
              <a:t>Científico de Datos Sr. - SKG Tecnología</a:t>
            </a:r>
          </a:p>
          <a:p>
            <a:pPr lvl="1"/>
            <a:r>
              <a:t>Email: jprada@skgtecnologia.com</a:t>
            </a:r>
          </a:p>
          <a:p>
            <a:endParaRPr/>
          </a:p>
          <a:p>
            <a:pPr>
              <a:defRPr b="1"/>
            </a:pPr>
            <a:r>
              <a:t>Estamos disponibles para:</a:t>
            </a:r>
          </a:p>
          <a:p>
            <a:pPr lvl="1"/>
            <a:r>
              <a:t>Aclarar requisitos técnicos</a:t>
            </a:r>
          </a:p>
          <a:p>
            <a:pPr lvl="1"/>
            <a:r>
              <a:t>Discutir alternativas de datasets</a:t>
            </a:r>
          </a:p>
          <a:p>
            <a:pPr lvl="1"/>
            <a:r>
              <a:t>Evaluar viabilidad conjuntamente</a:t>
            </a:r>
          </a:p>
          <a:p>
            <a:pPr lvl="1"/>
            <a:r>
              <a:t>Coordinar aspectos de privacidad</a:t>
            </a:r>
          </a:p>
          <a:p>
            <a:endParaRPr/>
          </a:p>
          <a:p>
            <a:pPr>
              <a:defRPr sz="2400" b="1">
                <a:solidFill>
                  <a:srgbClr val="003366"/>
                </a:solidFill>
              </a:defRPr>
            </a:pPr>
            <a:r>
              <a:t>¡Gracias por su colaboración!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</TotalTime>
  <Words>1011</Words>
  <Application>Microsoft Macintosh PowerPoint</Application>
  <PresentationFormat>Presentación en pantalla (4:3)</PresentationFormat>
  <Paragraphs>188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Tw Cen MT</vt:lpstr>
      <vt:lpstr>Circuito</vt:lpstr>
      <vt:lpstr>Presentación de PowerPoint</vt:lpstr>
      <vt:lpstr>Objetivo del Proyecto</vt:lpstr>
      <vt:lpstr>Caso de Uso 1: CLASIFICACIÓN</vt:lpstr>
      <vt:lpstr>Caso de Uso 2: REGRESIÓN</vt:lpstr>
      <vt:lpstr>Caso de Uso 3: OPTIMIZACIÓN</vt:lpstr>
      <vt:lpstr>Requisitos de Datasets - GENERAL</vt:lpstr>
      <vt:lpstr>Dataset 1 - CLASIFICACIÓN</vt:lpstr>
      <vt:lpstr>Dataset 2 - REGRESIÓN</vt:lpstr>
      <vt:lpstr>Dataset 3 - OPTIMIZACIÓN</vt:lpstr>
      <vt:lpstr>Ejemplo: Clasificación de Incidentes de Tráfico / Alertas Ambientales</vt:lpstr>
      <vt:lpstr>Ejemplo: Predicción de Duración de Proyectos</vt:lpstr>
      <vt:lpstr>Ejemplo: Asignación de agentes a focos de seguridad</vt:lpstr>
      <vt:lpstr>Timeline y Próximos Pasos</vt:lpstr>
      <vt:lpstr>Soporte y Documentación</vt:lpstr>
      <vt:lpstr>Beneficios para SKG</vt:lpstr>
      <vt:lpstr>Contacto y Preguntas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David Prada Malagón</cp:lastModifiedBy>
  <cp:revision>3</cp:revision>
  <dcterms:created xsi:type="dcterms:W3CDTF">2013-01-27T09:14:16Z</dcterms:created>
  <dcterms:modified xsi:type="dcterms:W3CDTF">2026-05-04T09:49:19Z</dcterms:modified>
  <cp:category/>
</cp:coreProperties>
</file>