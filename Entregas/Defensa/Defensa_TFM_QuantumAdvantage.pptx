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un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1847088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645920"/>
            <a:ext cx="105156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B6E6A"/>
                </a:solidFill>
                <a:latin typeface="Calibri"/>
              </a:rPr>
              <a:t>TRABAJO DE FIN DE MÁSTER  ·  DEFENSA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789920" cy="1645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Ventaja cuántica en ciencia de datos: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condiciones empíricas, métodos híbridos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y criterios de activación selectiva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515600" cy="7315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A8B0B8"/>
                </a:solidFill>
                <a:latin typeface="Calibri"/>
              </a:rPr>
              <a:t>Juan David Prada Malagón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A8B0B8"/>
                </a:solidFill>
                <a:latin typeface="Calibri"/>
              </a:rPr>
              <a:t>Director: Ricardo Rafael Domínguez Reyes  ·  UNIR  ·  Máster en Computación Cuántica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035040"/>
            <a:ext cx="2926080" cy="54864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217920"/>
            <a:ext cx="1005840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A939B"/>
                </a:solidFill>
                <a:latin typeface="Calibri"/>
              </a:rPr>
              <a:t>9 casos de uso  ·  kernels ZZ  ·  QAOA/VQE  ·  score Q(D)  ·  framework QCR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B6E6A"/>
                </a:solidFill>
                <a:latin typeface="Calibri"/>
              </a:rP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181C"/>
                </a:solidFill>
                <a:latin typeface="Calibri"/>
              </a:rPr>
              <a:t>La brecha NISQ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280160" cy="4572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6118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3611880" cy="73152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306324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6E6A"/>
                </a:solidFill>
                <a:latin typeface="Calibri"/>
              </a:rPr>
              <a:t>Promesa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3063240" cy="10972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4181C"/>
                </a:solidFill>
                <a:latin typeface="Calibri"/>
              </a:rPr>
              <a:t>Aceleración teórica en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4181C"/>
                </a:solidFill>
                <a:latin typeface="Calibri"/>
              </a:rPr>
              <a:t>aprendizaje y optimización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17320"/>
            <a:ext cx="36118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417320"/>
            <a:ext cx="3611880" cy="73152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37360"/>
            <a:ext cx="306324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6E6A"/>
                </a:solidFill>
                <a:latin typeface="Calibri"/>
              </a:rPr>
              <a:t>Realidad NISQ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86000"/>
            <a:ext cx="3063240" cy="10972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4181C"/>
                </a:solidFill>
                <a:latin typeface="Calibri"/>
              </a:rPr>
              <a:t>Ruido, pocos qubits,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4181C"/>
                </a:solidFill>
                <a:latin typeface="Calibri"/>
              </a:rPr>
              <a:t>simulación costosa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36118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417320"/>
            <a:ext cx="3611880" cy="73152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737360"/>
            <a:ext cx="306324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6E6A"/>
                </a:solidFill>
                <a:latin typeface="Calibri"/>
              </a:rPr>
              <a:t>Hueco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286000"/>
            <a:ext cx="3063240" cy="10972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4181C"/>
                </a:solidFill>
                <a:latin typeface="Calibri"/>
              </a:rPr>
              <a:t>Falta evidencia justa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4181C"/>
                </a:solidFill>
                <a:latin typeface="Calibri"/>
              </a:rPr>
              <a:t>en problemas de industria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840480"/>
            <a:ext cx="11155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7_complejidad_cuantico_vs_clas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312" y="3840480"/>
            <a:ext cx="8302896" cy="24688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37A"/>
                </a:solidFill>
                <a:latin typeface="Calibri"/>
              </a:rPr>
              <a:t>UNIR · Máster en Computación Cuántica · TFM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565392"/>
            <a:ext cx="210312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37A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B6E6A"/>
                </a:solidFill>
                <a:latin typeface="Calibri"/>
              </a:rPr>
              <a:t>FORMULACIÓN DE LA 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181C"/>
                </a:solidFill>
                <a:latin typeface="Calibri"/>
              </a:rPr>
              <a:t>Pregunta de investigación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280160" cy="4572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11556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109728" cy="292608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10058400" cy="20116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4181C"/>
                </a:solidFill>
                <a:latin typeface="Calibri"/>
              </a:rPr>
              <a:t>¿En qué condiciones, y para qué tipos de problemas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14181C"/>
                </a:solidFill>
                <a:latin typeface="Calibri"/>
              </a:rPr>
              <a:t>de ciencia de datos, los algoritmos cuánticos NISQ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14181C"/>
                </a:solidFill>
                <a:latin typeface="Calibri"/>
              </a:rPr>
              <a:t>ofrecen una ventaja real y medible frente a los clásicos?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846320"/>
            <a:ext cx="11155680" cy="10972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37A"/>
                </a:solidFill>
                <a:latin typeface="Calibri"/>
              </a:rPr>
              <a:t>Hipótesis operativa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37A"/>
                </a:solidFill>
                <a:latin typeface="Calibri"/>
              </a:rPr>
              <a:t>La ventaja es real pero condicionada: alineación feature map ↔ generador de datos,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37A"/>
                </a:solidFill>
                <a:latin typeface="Calibri"/>
              </a:rPr>
              <a:t>o problemas QUBO con arquitectura híbrida cuántico–clásica.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37A"/>
                </a:solidFill>
                <a:latin typeface="Calibri"/>
              </a:rPr>
              <a:t>UNIR · Máster en Computación Cuántica · TFM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65392"/>
            <a:ext cx="210312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37A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B6E6A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181C"/>
                </a:solidFill>
                <a:latin typeface="Calibri"/>
              </a:rPr>
              <a:t>Qué entrega este TFM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280160" cy="4572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155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91440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B6E6A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72768"/>
            <a:ext cx="36576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4181C"/>
                </a:solidFill>
                <a:latin typeface="Calibri"/>
              </a:rPr>
              <a:t>Mapa empírico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901952"/>
            <a:ext cx="91440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37A"/>
                </a:solidFill>
                <a:latin typeface="Calibri"/>
              </a:rPr>
              <a:t>Comparativa justa en 9 casos de uso industriales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514600"/>
            <a:ext cx="11155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70632"/>
            <a:ext cx="91440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B6E6A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715768"/>
            <a:ext cx="36576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4181C"/>
                </a:solidFill>
                <a:latin typeface="Calibri"/>
              </a:rPr>
              <a:t>Patrón híbrido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044952"/>
            <a:ext cx="91440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37A"/>
                </a:solidFill>
                <a:latin typeface="Calibri"/>
              </a:rPr>
              <a:t>QAOA / VQE + optimizador clásico, criterios de activación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657600"/>
            <a:ext cx="11155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13632"/>
            <a:ext cx="91440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B6E6A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858768"/>
            <a:ext cx="36576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4181C"/>
                </a:solidFill>
                <a:latin typeface="Calibri"/>
              </a:rPr>
              <a:t>Score Q(D)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187952"/>
            <a:ext cx="91440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37A"/>
                </a:solidFill>
                <a:latin typeface="Calibri"/>
              </a:rPr>
              <a:t>Diagnóstico a priori de compatibilidad con kernels cuánticos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800600"/>
            <a:ext cx="11155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056632"/>
            <a:ext cx="91440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B6E6A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001768"/>
            <a:ext cx="36576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4181C"/>
                </a:solidFill>
                <a:latin typeface="Calibri"/>
              </a:rPr>
              <a:t>Framework QCR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5330952"/>
            <a:ext cx="91440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37A"/>
                </a:solidFill>
                <a:latin typeface="Calibri"/>
              </a:rPr>
              <a:t>Espacio de representación — planteado formalmente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37A"/>
                </a:solidFill>
                <a:latin typeface="Calibri"/>
              </a:rPr>
              <a:t>UNIR · Máster en Computación Cuántica · TFM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565392"/>
            <a:ext cx="210312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37A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B6E6A"/>
                </a:solidFill>
                <a:latin typeface="Calibri"/>
              </a:rPr>
              <a:t>METODOLOGÍA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181C"/>
                </a:solidFill>
                <a:latin typeface="Calibri"/>
              </a:rPr>
              <a:t>Nueve casos · tres capas de datos · protocolos justos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280160" cy="4572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111556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7_dashboard_ventaja_cuant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7687" y="1280160"/>
            <a:ext cx="5306145" cy="5029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37A"/>
                </a:solidFill>
                <a:latin typeface="Calibri"/>
              </a:rPr>
              <a:t>UNIR · Máster en Computación Cuántica · TFM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65392"/>
            <a:ext cx="210312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37A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B6E6A"/>
                </a:solidFill>
                <a:latin typeface="Calibri"/>
              </a:rPr>
              <a:t>DISEÑO EXPERIMENTAL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181C"/>
                </a:solidFill>
                <a:latin typeface="Calibri"/>
              </a:rPr>
              <a:t>Familias de problema × evidencia visual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280160" cy="4572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67665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7_heatmap_ventaja_por_domin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45" y="1280160"/>
            <a:ext cx="6358109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98079" y="137160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572768"/>
            <a:ext cx="3749039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6E6A"/>
                </a:solidFill>
                <a:latin typeface="Calibri"/>
              </a:rPr>
              <a:t>Kernels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874520"/>
            <a:ext cx="3749039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81C"/>
                </a:solidFill>
                <a:latin typeface="Calibri"/>
              </a:rPr>
              <a:t>QSVM · QK-SVR · OCSVM-ZZ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251460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2715768"/>
            <a:ext cx="3749039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6E6A"/>
                </a:solidFill>
                <a:latin typeface="Calibri"/>
              </a:rPr>
              <a:t>Híbridos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3017520"/>
            <a:ext cx="3749039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81C"/>
                </a:solidFill>
                <a:latin typeface="Calibri"/>
              </a:rPr>
              <a:t>QAOA · VQE + COBYLA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365760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3858768"/>
            <a:ext cx="3749039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6E6A"/>
                </a:solidFill>
                <a:latin typeface="Calibri"/>
              </a:rPr>
              <a:t>Datos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4160520"/>
            <a:ext cx="3749039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81C"/>
                </a:solidFill>
                <a:latin typeface="Calibri"/>
              </a:rPr>
              <a:t>Sintético nativo · SKG · público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480060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5001768"/>
            <a:ext cx="3749039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6E6A"/>
                </a:solidFill>
                <a:latin typeface="Calibri"/>
              </a:rPr>
              <a:t>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303520"/>
            <a:ext cx="3749039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81C"/>
                </a:solidFill>
                <a:latin typeface="Calibri"/>
              </a:rPr>
              <a:t>Qiskit 2.x · statevector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37A"/>
                </a:solidFill>
                <a:latin typeface="Calibri"/>
              </a:rPr>
              <a:t>UNIR · Máster en Computación Cuántica · TFM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565392"/>
            <a:ext cx="210312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37A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B6E6A"/>
                </a:solidFill>
                <a:latin typeface="Calibri"/>
              </a:rPr>
              <a:t>ALGORITMOS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181C"/>
                </a:solidFill>
                <a:latin typeface="Calibri"/>
              </a:rPr>
              <a:t>Kernels cuánticos (ZZFeatureMap)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280160" cy="4572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69494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_zzfeaturemap_circ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151437"/>
            <a:ext cx="6949440" cy="119520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80960" y="1371600"/>
            <a:ext cx="3977639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627632"/>
            <a:ext cx="45720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B6E6A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554480"/>
            <a:ext cx="301752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81C"/>
                </a:solidFill>
                <a:latin typeface="Calibri"/>
              </a:rPr>
              <a:t>Codificar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874520"/>
            <a:ext cx="301752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37A"/>
                </a:solidFill>
                <a:latin typeface="Calibri"/>
              </a:rPr>
              <a:t>ZZFeatureMap · 2 qubits · reps=2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2514600"/>
            <a:ext cx="3977639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770632"/>
            <a:ext cx="45720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B6E6A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697480"/>
            <a:ext cx="301752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81C"/>
                </a:solidFill>
                <a:latin typeface="Calibri"/>
              </a:rPr>
              <a:t>Kernel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017520"/>
            <a:ext cx="301752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37A"/>
                </a:solidFill>
                <a:latin typeface="Calibri"/>
              </a:rPr>
              <a:t>κ = |⟨φ(xᵢ)|φ(xⱼ)⟩|²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3657600"/>
            <a:ext cx="3977639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3913632"/>
            <a:ext cx="45720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B6E6A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840480"/>
            <a:ext cx="301752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81C"/>
                </a:solidFill>
                <a:latin typeface="Calibri"/>
              </a:rPr>
              <a:t>Modelo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160520"/>
            <a:ext cx="301752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37A"/>
                </a:solidFill>
                <a:latin typeface="Calibri"/>
              </a:rPr>
              <a:t>QSVM / QK-SVR / OCSVM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4800600"/>
            <a:ext cx="3977639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5056632"/>
            <a:ext cx="45720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B6E6A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983480"/>
            <a:ext cx="301752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81C"/>
                </a:solidFill>
                <a:latin typeface="Calibri"/>
              </a:rPr>
              <a:t>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5303520"/>
            <a:ext cx="301752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37A"/>
                </a:solidFill>
                <a:latin typeface="Calibri"/>
              </a:rPr>
              <a:t>RBF · mismo C · mismo PCA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37A"/>
                </a:solidFill>
                <a:latin typeface="Calibri"/>
              </a:rPr>
              <a:t>UNIR · Máster en Computación Cuántica · TFM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65392"/>
            <a:ext cx="210312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37A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B6E6A"/>
                </a:solidFill>
                <a:latin typeface="Calibri"/>
              </a:rPr>
              <a:t>ALGORITMOS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181C"/>
                </a:solidFill>
                <a:latin typeface="Calibri"/>
              </a:rPr>
              <a:t>Híbridos QAOA / VQE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280160" cy="4572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54864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0_qaoa_converg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70549"/>
            <a:ext cx="5486400" cy="195698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0" y="1280160"/>
            <a:ext cx="54864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0_mds_grafo_solu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434103"/>
            <a:ext cx="5486400" cy="462987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37A"/>
                </a:solidFill>
                <a:latin typeface="Calibri"/>
              </a:rPr>
              <a:t>UNIR · Máster en Computación Cuántica · TFM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65392"/>
            <a:ext cx="210312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37A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B6E6A"/>
                </a:solidFill>
                <a:latin typeface="Calibri"/>
              </a:rPr>
              <a:t>CONTRIBUCIÓN ORIGINAL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181C"/>
                </a:solidFill>
                <a:latin typeface="Calibri"/>
              </a:rPr>
              <a:t>Dos problemas de investigación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280160" cy="4572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4864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486400" cy="64008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493776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P1  ·  Tests de cuanticidad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37760" cy="22860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4181C"/>
                </a:solidFill>
                <a:latin typeface="Calibri"/>
              </a:rPr>
              <a:t>¿Existe un indicador</a:t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14181C"/>
                </a:solidFill>
                <a:latin typeface="Calibri"/>
              </a:rPr>
              <a:t>calculable a priori que</a:t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14181C"/>
                </a:solidFill>
                <a:latin typeface="Calibri"/>
              </a:rPr>
              <a:t>prediga si un algoritmo</a:t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14181C"/>
                </a:solidFill>
                <a:latin typeface="Calibri"/>
              </a:rPr>
              <a:t>cuántico mostrará ventaja?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29200"/>
            <a:ext cx="4937760" cy="7315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37A"/>
                </a:solidFill>
                <a:latin typeface="Calibri"/>
              </a:rPr>
              <a:t>Respuesta del TFM: score Q(D)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37A"/>
                </a:solidFill>
                <a:latin typeface="Calibri"/>
              </a:rPr>
              <a:t>(alineación · entropía · d_F)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5486400" cy="640080"/>
          </a:xfrm>
          <a:prstGeom prst="rect">
            <a:avLst/>
          </a:prstGeom>
          <a:solidFill>
            <a:srgbClr val="0E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54480"/>
            <a:ext cx="493776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P2  ·  Espacio de representación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68880"/>
            <a:ext cx="4937760" cy="22860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4181C"/>
                </a:solidFill>
                <a:latin typeface="Calibri"/>
              </a:rPr>
              <a:t>Si el dataset no tiene</a:t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14181C"/>
                </a:solidFill>
                <a:latin typeface="Calibri"/>
              </a:rPr>
              <a:t>estructura cuántica, ¿puede</a:t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14181C"/>
                </a:solidFill>
                <a:latin typeface="Calibri"/>
              </a:rPr>
              <a:t>transformarse a un espacio</a:t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14181C"/>
                </a:solidFill>
                <a:latin typeface="Calibri"/>
              </a:rPr>
              <a:t>donde sí la tenga?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5029200"/>
            <a:ext cx="4937760" cy="7315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37A"/>
                </a:solidFill>
                <a:latin typeface="Calibri"/>
              </a:rPr>
              <a:t>Respuesta del TFM: framework QCR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37A"/>
                </a:solidFill>
                <a:latin typeface="Calibri"/>
              </a:rPr>
              <a:t>(planteado formalmente · conjetura abierta)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37A"/>
                </a:solidFill>
                <a:latin typeface="Calibri"/>
              </a:rPr>
              <a:t>UNIR · Máster en Computación Cuántica · TFM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65392"/>
            <a:ext cx="210312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37A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B6E6A"/>
                </a:solidFill>
                <a:latin typeface="Calibri"/>
              </a:rPr>
              <a:t>FORMALIZACIÓN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181C"/>
                </a:solidFill>
                <a:latin typeface="Calibri"/>
              </a:rPr>
              <a:t>Diagnóstico Q(D) → decisión de activación / remapeo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280160" cy="4572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111556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9_qcr_framework_diagnost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638" y="1280160"/>
            <a:ext cx="10954243" cy="5029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37A"/>
                </a:solidFill>
                <a:latin typeface="Calibri"/>
              </a:rPr>
              <a:t>UNIR · Máster en Computación Cuántica · TFM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65392"/>
            <a:ext cx="210312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37A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B6E6A"/>
                </a:solidFill>
                <a:latin typeface="Calibri"/>
              </a:rP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181C"/>
                </a:solidFill>
                <a:latin typeface="Calibri"/>
              </a:rPr>
              <a:t>Principio de alineación feature map ↔ generador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280160" cy="4572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54864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_quantum_kernel_bounda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92154"/>
            <a:ext cx="5486400" cy="151377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0" y="1280160"/>
            <a:ext cx="54864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_learning_curves_quantum_advan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896828"/>
            <a:ext cx="5486400" cy="170442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37A"/>
                </a:solidFill>
                <a:latin typeface="Calibri"/>
              </a:rPr>
              <a:t>UNIR · Máster en Computación Cuántica · TFM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65392"/>
            <a:ext cx="210312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37A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B6E6A"/>
                </a:solidFill>
                <a:latin typeface="Calibri"/>
              </a:rPr>
              <a:t>RESULTADOS · CLASIFICACIÓN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181C"/>
                </a:solidFill>
                <a:latin typeface="Calibri"/>
              </a:rPr>
              <a:t>QSVM vs clásicos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280160" cy="4572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73152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escalabilidad_ventaja_clasific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54883"/>
            <a:ext cx="7315200" cy="398831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80960" y="1371600"/>
            <a:ext cx="3977639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80960" y="1371600"/>
            <a:ext cx="73152" cy="141732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600200"/>
            <a:ext cx="3611879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B6E6A"/>
                </a:solidFill>
                <a:latin typeface="Calibri"/>
              </a:rPr>
              <a:t>+38.3 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148840"/>
            <a:ext cx="3611879" cy="6400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37A"/>
                </a:solidFill>
                <a:latin typeface="Calibri"/>
              </a:rPr>
              <a:t>Ventaja QSVM en datos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37A"/>
                </a:solidFill>
                <a:latin typeface="Calibri"/>
              </a:rPr>
              <a:t>alineados al mapa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2971800"/>
            <a:ext cx="3977639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80960" y="2971800"/>
            <a:ext cx="73152" cy="141732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200400"/>
            <a:ext cx="3611879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B6E6A"/>
                </a:solidFill>
                <a:latin typeface="Calibri"/>
              </a:rPr>
              <a:t>+40.9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749040"/>
            <a:ext cx="3611879" cy="6400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37A"/>
                </a:solidFill>
                <a:latin typeface="Calibri"/>
              </a:rPr>
              <a:t>Media en escalabilidad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37A"/>
                </a:solidFill>
                <a:latin typeface="Calibri"/>
              </a:rPr>
              <a:t>n = 30–180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4572000"/>
            <a:ext cx="3977639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80960" y="4572000"/>
            <a:ext cx="73152" cy="141732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4800600"/>
            <a:ext cx="3611879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B6E6A"/>
                </a:solidFill>
                <a:latin typeface="Calibri"/>
              </a:rPr>
              <a:t>Clásico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5349240"/>
            <a:ext cx="3611879" cy="6400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37A"/>
                </a:solidFill>
                <a:latin typeface="Calibri"/>
              </a:rPr>
              <a:t>Gana en Telco / SKG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37A"/>
                </a:solidFill>
                <a:latin typeface="Calibri"/>
              </a:rPr>
              <a:t>sin alineación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37A"/>
                </a:solidFill>
                <a:latin typeface="Calibri"/>
              </a:rPr>
              <a:t>UNIR · Máster en Computación Cuántica · TFM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565392"/>
            <a:ext cx="210312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37A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B6E6A"/>
                </a:solidFill>
                <a:latin typeface="Calibri"/>
              </a:rPr>
              <a:t>RESULTADOS · OPTIMIZACIÓN HÍBRIDA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181C"/>
                </a:solidFill>
                <a:latin typeface="Calibri"/>
              </a:rPr>
              <a:t>QAOA / VQE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280160" cy="4572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73152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0_qaoa_histograma_medi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5932"/>
            <a:ext cx="7315200" cy="42862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80960" y="1371600"/>
            <a:ext cx="3977639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80960" y="1371600"/>
            <a:ext cx="73152" cy="141732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600200"/>
            <a:ext cx="3611879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B6E6A"/>
                </a:solidFill>
                <a:latin typeface="Calibri"/>
              </a:rPr>
              <a:t>−30.3%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148840"/>
            <a:ext cx="3611879" cy="6400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37A"/>
                </a:solidFill>
                <a:latin typeface="Calibri"/>
              </a:rPr>
              <a:t>Coste QAOA vs Greedy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37A"/>
                </a:solidFill>
                <a:latin typeface="Calibri"/>
              </a:rPr>
              <a:t>asignación de agentes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2971800"/>
            <a:ext cx="3977639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80960" y="2971800"/>
            <a:ext cx="73152" cy="141732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200400"/>
            <a:ext cx="3611879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B6E6A"/>
                </a:solidFill>
                <a:latin typeface="Calibri"/>
              </a:rPr>
              <a:t>Empate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749040"/>
            <a:ext cx="3611879" cy="6400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37A"/>
                </a:solidFill>
                <a:latin typeface="Calibri"/>
              </a:rPr>
              <a:t>TSP n=4: QAOA = NN+2-opt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37A"/>
                </a:solidFill>
                <a:latin typeface="Calibri"/>
              </a:rPr>
              <a:t>(valor de modelado)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4572000"/>
            <a:ext cx="3977639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80960" y="4572000"/>
            <a:ext cx="73152" cy="141732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4800600"/>
            <a:ext cx="3611879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B6E6A"/>
                </a:solidFill>
                <a:latin typeface="Calibri"/>
              </a:rPr>
              <a:t>~73%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5349240"/>
            <a:ext cx="3611879" cy="6400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37A"/>
                </a:solidFill>
                <a:latin typeface="Calibri"/>
              </a:rPr>
              <a:t>P(óptimo) MDS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37A"/>
                </a:solidFill>
                <a:latin typeface="Calibri"/>
              </a:rPr>
              <a:t>patrón híbrido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37A"/>
                </a:solidFill>
                <a:latin typeface="Calibri"/>
              </a:rPr>
              <a:t>UNIR · Máster en Computación Cuántica · TFM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565392"/>
            <a:ext cx="210312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37A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B6E6A"/>
                </a:solidFill>
                <a:latin typeface="Calibri"/>
              </a:rPr>
              <a:t>RESULTADOS · ANOMALÍAS ONE-CLASS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181C"/>
                </a:solidFill>
                <a:latin typeface="Calibri"/>
              </a:rPr>
              <a:t>Ventaja solo si la novedad es de fase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280160" cy="4572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54864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zz_phase_concep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20240"/>
            <a:ext cx="5486400" cy="3657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0" y="1280160"/>
            <a:ext cx="54864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zz_phase_scores_if_vs_z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535672"/>
            <a:ext cx="5486400" cy="242673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37A"/>
                </a:solidFill>
                <a:latin typeface="Calibri"/>
              </a:rPr>
              <a:t>UNIR · Máster en Computación Cuántica · TFM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65392"/>
            <a:ext cx="210312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37A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B6E6A"/>
                </a:solidFill>
                <a:latin typeface="Calibri"/>
              </a:rPr>
              <a:t>RESULTADOS · SCORE Q(D)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181C"/>
                </a:solidFill>
                <a:latin typeface="Calibri"/>
              </a:rPr>
              <a:t>Correlación con ventaja de kernel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280160" cy="4572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54864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8_correlacion_indicadores_venta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77298"/>
            <a:ext cx="5486400" cy="19434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0" y="1280160"/>
            <a:ext cx="54864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8_barrido_sintetico_alp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116621"/>
            <a:ext cx="5486400" cy="326483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37A"/>
                </a:solidFill>
                <a:latin typeface="Calibri"/>
              </a:rPr>
              <a:t>UNIR · Máster en Computación Cuántica · TFM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65392"/>
            <a:ext cx="210312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37A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B6E6A"/>
                </a:solidFill>
                <a:latin typeface="Calibri"/>
              </a:rPr>
              <a:t>RESULTADOS · QCR / MAPEOS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181C"/>
                </a:solidFill>
                <a:latin typeface="Calibri"/>
              </a:rPr>
              <a:t>Evidencia preliminar — no demostración fuerte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280160" cy="4572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54864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9_mapeos_comparati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05611"/>
            <a:ext cx="5486400" cy="388685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0" y="1280160"/>
            <a:ext cx="54864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9_barrido_rotac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700169"/>
            <a:ext cx="5486400" cy="209774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37A"/>
                </a:solidFill>
                <a:latin typeface="Calibri"/>
              </a:rPr>
              <a:t>UNIR · Máster en Computación Cuántica · TFM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65392"/>
            <a:ext cx="210312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37A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B6E6A"/>
                </a:solidFill>
                <a:latin typeface="Calibri"/>
              </a:rPr>
              <a:t>SÍNTESIS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181C"/>
                </a:solidFill>
                <a:latin typeface="Calibri"/>
              </a:rPr>
              <a:t>Ventaja real pero condicionada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280160" cy="4572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0" y="1234440"/>
            <a:ext cx="88696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7_radar_ventaja_cuant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846123"/>
            <a:ext cx="8869680" cy="380583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37A"/>
                </a:solidFill>
                <a:latin typeface="Calibri"/>
              </a:rPr>
              <a:t>UNIR · Máster en Computación Cuántica · TFM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65392"/>
            <a:ext cx="210312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37A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B6E6A"/>
                </a:solidFill>
                <a:latin typeface="Calibri"/>
              </a:rPr>
              <a:t>CONCLUSIÓN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645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Diagnosticar compatibilidad.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Remapear solo si procede.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Activar cuántica de forma selectiva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dentro de un stack híbrido.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515600" cy="8229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A8B0B8"/>
                </a:solidFill>
                <a:latin typeface="Calibri"/>
              </a:rPr>
              <a:t>Aportes: mapa empírico (9 casos)  ·  Q(D)  ·  QCR formalmente planteado  ·  arquitectura híbrida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852160"/>
            <a:ext cx="2011680" cy="54864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Gracias  ·  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