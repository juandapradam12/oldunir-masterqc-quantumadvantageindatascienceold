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57200"/>
            <a:ext cx="1679171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554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6E6A"/>
                </a:solidFill>
                <a:latin typeface="Calibri"/>
              </a:rPr>
              <a:t>TRABAJO DE FIN DE MÁSTER  ·  DEFENSA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Ventaja cuántica en ciencia de datos:</a:t>
            </a:r>
          </a:p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condiciones empíricas, métodos híbridos</a:t>
            </a:r>
          </a:p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y criterios de activación selectiva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3891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A8B0B8"/>
                </a:solidFill>
                <a:latin typeface="Calibri"/>
              </a:rPr>
              <a:t>Juan David Prada Malagón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A8B0B8"/>
                </a:solidFill>
                <a:latin typeface="Calibri"/>
              </a:rPr>
              <a:t>Dir. Ricardo Rafael Domínguez Reyes  ·  UNIR  ·  Máster en Computación Cuántica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760720"/>
            <a:ext cx="2560320" cy="45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8A939B"/>
                </a:solidFill>
                <a:latin typeface="Calibri"/>
              </a:rPr>
              <a:t>9 casos  ·  kernels ZZ  ·  QAOA/VQE  ·  Q(D)  ·  QCR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6E6A"/>
                </a:solidFill>
                <a:latin typeface="Calibri"/>
              </a:rPr>
              <a:t>HOJA DE RUTA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4181C"/>
                </a:solidFill>
                <a:latin typeface="Calibri"/>
              </a:rPr>
              <a:t>Agenda de la defensa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1234440" cy="45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36118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0B6E6A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6032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Problema central y objetivos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554480"/>
            <a:ext cx="36118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9659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0B6E6A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56032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Estado del arte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2440" y="1554480"/>
            <a:ext cx="36118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9659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0B6E6A"/>
                </a:solidFill>
                <a:latin typeface="Calibr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56032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Metodología y algoritmos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657600"/>
            <a:ext cx="36118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0690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0B6E6A"/>
                </a:solidFill>
                <a:latin typeface="Calibri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Preguntas originales (tras la evidencia)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3657600"/>
            <a:ext cx="36118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40690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0B6E6A"/>
                </a:solidFill>
                <a:latin typeface="Calibri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6634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Resultados empíricos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92440" y="3657600"/>
            <a:ext cx="36118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60" y="40690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0B6E6A"/>
                </a:solidFill>
                <a:latin typeface="Calibri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46634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Limitaciones, aportes y futuro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UNIR · Máster en Computación Cuántica · Defensa TFM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6E6A"/>
                </a:solidFill>
                <a:latin typeface="Calibri"/>
              </a:rPr>
              <a:t>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4181C"/>
                </a:solidFill>
                <a:latin typeface="Calibri"/>
              </a:rPr>
              <a:t>Brecha entre teoría cuántica y evidencia aplicable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1234440" cy="45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361188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3611880" cy="73152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6E6A"/>
                </a:solidFill>
                <a:latin typeface="Calibri"/>
              </a:rPr>
              <a:t>Promesa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3154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4181C"/>
                </a:solidFill>
                <a:latin typeface="Calibri"/>
              </a:rPr>
              <a:t>Kernels y QAOA/VQE con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4181C"/>
                </a:solidFill>
                <a:latin typeface="Calibri"/>
              </a:rPr>
              <a:t>aceleración teórica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325880"/>
            <a:ext cx="361188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325880"/>
            <a:ext cx="3611880" cy="73152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60020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6E6A"/>
                </a:solidFill>
                <a:latin typeface="Calibri"/>
              </a:rPr>
              <a:t>Era NISQ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103120"/>
            <a:ext cx="3154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4181C"/>
                </a:solidFill>
                <a:latin typeface="Calibri"/>
              </a:rPr>
              <a:t>Ruido, qubits limitados,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4181C"/>
                </a:solidFill>
                <a:latin typeface="Calibri"/>
              </a:rPr>
              <a:t>simulación costosa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1325880"/>
            <a:ext cx="361188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325880"/>
            <a:ext cx="3611880" cy="73152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60020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6E6A"/>
                </a:solidFill>
                <a:latin typeface="Calibri"/>
              </a:rPr>
              <a:t>Hueco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103120"/>
            <a:ext cx="3154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4181C"/>
                </a:solidFill>
                <a:latin typeface="Calibri"/>
              </a:rPr>
              <a:t>Pocos protocolos justos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4181C"/>
                </a:solidFill>
                <a:latin typeface="Calibri"/>
              </a:rPr>
              <a:t>en problemas de industria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474720"/>
            <a:ext cx="1115568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07_complejidad_cuantico_vs_clas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282" y="3474720"/>
            <a:ext cx="9532955" cy="28346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UNIR · Máster en Computación Cuántica · Defensa TFM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6E6A"/>
                </a:solidFill>
                <a:latin typeface="Calibri"/>
              </a:rPr>
              <a:t>PLANTEAMIENTO DEL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4181C"/>
                </a:solidFill>
                <a:latin typeface="Calibri"/>
              </a:rPr>
              <a:t>Problema central del TFM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1234440" cy="45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111556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91440" cy="228600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10241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4181C"/>
                </a:solidFill>
                <a:latin typeface="Calibri"/>
              </a:rPr>
              <a:t>¿En qué condiciones, y para qué tipos de problemas de ciencia de datos,</a:t>
            </a:r>
          </a:p>
          <a:p>
            <a:pPr algn="l">
              <a:spcAft>
                <a:spcPts val="300"/>
              </a:spcAft>
            </a:pPr>
            <a:r>
              <a:rPr sz="1800" b="1">
                <a:solidFill>
                  <a:srgbClr val="14181C"/>
                </a:solidFill>
                <a:latin typeface="Calibri"/>
              </a:rPr>
              <a:t>los algoritmos cuánticos disponibles en la era NISQ ofrecen una</a:t>
            </a:r>
          </a:p>
          <a:p>
            <a:pPr algn="l">
              <a:spcAft>
                <a:spcPts val="300"/>
              </a:spcAft>
            </a:pPr>
            <a:r>
              <a:rPr sz="1800" b="1">
                <a:solidFill>
                  <a:srgbClr val="14181C"/>
                </a:solidFill>
                <a:latin typeface="Calibri"/>
              </a:rPr>
              <a:t>ventaja real y medible frente a los algoritmos clásicos?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4048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6E6A"/>
                </a:solidFill>
                <a:latin typeface="Calibri"/>
              </a:rPr>
              <a:t>CÓMO SE ATACA  ·  estudio comparativo empírico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251960"/>
            <a:ext cx="27432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4348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E6A"/>
                </a:solidFill>
                <a:latin typeface="Calibri"/>
              </a:rPr>
              <a:t>Clasificación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89204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81C"/>
                </a:solidFill>
                <a:latin typeface="Calibri"/>
              </a:rPr>
              <a:t>Kernels QSVM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81C"/>
                </a:solidFill>
                <a:latin typeface="Calibri"/>
              </a:rPr>
              <a:t>vs SVM / boosting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4251960"/>
            <a:ext cx="27432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0" y="44348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E6A"/>
                </a:solidFill>
                <a:latin typeface="Calibri"/>
              </a:rPr>
              <a:t>Regresión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489204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81C"/>
                </a:solidFill>
                <a:latin typeface="Calibri"/>
              </a:rPr>
              <a:t>QK-SVR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81C"/>
                </a:solidFill>
                <a:latin typeface="Calibri"/>
              </a:rPr>
              <a:t>vs Ridge / árboles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4251960"/>
            <a:ext cx="27432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44348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E6A"/>
                </a:solidFill>
                <a:latin typeface="Calibri"/>
              </a:rPr>
              <a:t>Optimización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89204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81C"/>
                </a:solidFill>
                <a:latin typeface="Calibri"/>
              </a:rPr>
              <a:t>QAOA / VQE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81C"/>
                </a:solidFill>
                <a:latin typeface="Calibri"/>
              </a:rPr>
              <a:t>vs greedy / ILP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0" y="4251960"/>
            <a:ext cx="27432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44348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E6A"/>
                </a:solidFill>
                <a:latin typeface="Calibri"/>
              </a:rPr>
              <a:t>Híbrido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489204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81C"/>
                </a:solidFill>
                <a:latin typeface="Calibri"/>
              </a:rPr>
              <a:t>QAOA–COBYLA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81C"/>
                </a:solidFill>
                <a:latin typeface="Calibri"/>
              </a:rPr>
              <a:t>(MDS, QUBO)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UNIR · Máster en Computación Cuántica · Defensa TFM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6E6A"/>
                </a:solidFill>
                <a:latin typeface="Calibri"/>
              </a:rPr>
              <a:t>OBJETIVOS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4181C"/>
                </a:solidFill>
                <a:latin typeface="Calibri"/>
              </a:rPr>
              <a:t>Qué se propuso y se entrega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1234440" cy="45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11155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8191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6E6A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5270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4181C"/>
                </a:solidFill>
                <a:latin typeface="Calibri"/>
              </a:rPr>
              <a:t>Comparar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581912"/>
            <a:ext cx="6217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6B737A"/>
                </a:solidFill>
                <a:latin typeface="Calibri"/>
              </a:rPr>
              <a:t>Cuántico vs clásico en 9 casos bajo protocolos justos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468880"/>
            <a:ext cx="11155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2491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6E6A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26700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4181C"/>
                </a:solidFill>
                <a:latin typeface="Calibri"/>
              </a:rPr>
              <a:t>Caracterizar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724912"/>
            <a:ext cx="6217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6B737A"/>
                </a:solidFill>
                <a:latin typeface="Calibri"/>
              </a:rPr>
              <a:t>Patrón híbrido QAOA/VQE + criterios de activación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611880"/>
            <a:ext cx="11155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86791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6E6A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38130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4181C"/>
                </a:solidFill>
                <a:latin typeface="Calibri"/>
              </a:rPr>
              <a:t>Diagnosticar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867912"/>
            <a:ext cx="6217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6B737A"/>
                </a:solidFill>
                <a:latin typeface="Calibri"/>
              </a:rPr>
              <a:t>Score de cuanticidad Q(D) previo al entrenamiento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754880"/>
            <a:ext cx="11155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01091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6E6A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49560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4181C"/>
                </a:solidFill>
                <a:latin typeface="Calibri"/>
              </a:rPr>
              <a:t>Plantear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5010912"/>
            <a:ext cx="6217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6B737A"/>
                </a:solidFill>
                <a:latin typeface="Calibri"/>
              </a:rPr>
              <a:t>Framework QCR (espacio de representación) — formalmente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UNIR · Máster en Computación Cuántica · Defensa TFM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6E6A"/>
                </a:solidFill>
                <a:latin typeface="Calibri"/>
              </a:rPr>
              <a:t>ESTADO DEL ARTE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4181C"/>
                </a:solidFill>
                <a:latin typeface="Calibri"/>
              </a:rPr>
              <a:t>Posicionamiento del TFM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1234440" cy="45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361188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3611880" cy="64008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Kernels cuánticos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108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Schuld, Huang, Liu et al.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Ventaja posible si hay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estructura geométrica alineada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417320"/>
            <a:ext cx="361188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417320"/>
            <a:ext cx="3611880" cy="64008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554480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Optimización variacional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468880"/>
            <a:ext cx="3108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Farhi QAOA · Peruzzo VQE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Paradigma híbrido NISQ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QUBO → Hamiltoniano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1417320"/>
            <a:ext cx="361188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417320"/>
            <a:ext cx="3611880" cy="640080"/>
          </a:xfrm>
          <a:prstGeom prst="rect">
            <a:avLst/>
          </a:prstGeom>
          <a:solidFill>
            <a:srgbClr val="0E1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554480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Este trabajo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468880"/>
            <a:ext cx="3108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Protocolos justos + datos SKG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Q(D) como diagnóstico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QCR formalmente planteado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UNIR · Máster en Computación Cuántica · Defensa TFM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6E6A"/>
                </a:solidFill>
                <a:latin typeface="Calibri"/>
              </a:rPr>
              <a:t>METODOLOGÍA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4181C"/>
                </a:solidFill>
                <a:latin typeface="Calibri"/>
              </a:rPr>
              <a:t>9 casos · 3 capas de datos · comparación emparejada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1234440" cy="45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1115568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7_dashboard_ventaja_cuan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7687" y="1234440"/>
            <a:ext cx="5306145" cy="5029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UNIR · Máster en Computación Cuántica · Defensa TFM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6E6A"/>
                </a:solidFill>
                <a:latin typeface="Calibri"/>
              </a:rPr>
              <a:t>DISEÑO EXPERIMENTAL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4181C"/>
                </a:solidFill>
                <a:latin typeface="Calibri"/>
              </a:rPr>
              <a:t>Qué se midió y dónde aparece ventaja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1234440" cy="45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685800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7_heatmap_ventaja_por_domin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994" y="1234440"/>
            <a:ext cx="6475852" cy="5029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589520" y="1280160"/>
            <a:ext cx="40690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1417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E6A"/>
                </a:solidFill>
                <a:latin typeface="Calibri"/>
              </a:rPr>
              <a:t>Clasificación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171907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81C"/>
                </a:solidFill>
                <a:latin typeface="Calibri"/>
              </a:rPr>
              <a:t>QSVM vs boosting / RBF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2240280"/>
            <a:ext cx="40690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3774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E6A"/>
                </a:solidFill>
                <a:latin typeface="Calibri"/>
              </a:rPr>
              <a:t>Regresión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67919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81C"/>
                </a:solidFill>
                <a:latin typeface="Calibri"/>
              </a:rPr>
              <a:t>QK-SVR vs Ridge / árboles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89520" y="3200400"/>
            <a:ext cx="40690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20" y="33375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E6A"/>
                </a:solidFill>
                <a:latin typeface="Calibri"/>
              </a:rPr>
              <a:t>Optimización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363931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81C"/>
                </a:solidFill>
                <a:latin typeface="Calibri"/>
              </a:rPr>
              <a:t>QAOA/VQE vs greedy / ILP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4160520"/>
            <a:ext cx="40690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18120" y="42976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E6A"/>
                </a:solidFill>
                <a:latin typeface="Calibri"/>
              </a:rPr>
              <a:t>Anomalías / lags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459943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81C"/>
                </a:solidFill>
                <a:latin typeface="Calibri"/>
              </a:rPr>
              <a:t>OCSVM-ZZ · QK-SVR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89520" y="5120640"/>
            <a:ext cx="40690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18120" y="52578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E6A"/>
                </a:solidFill>
                <a:latin typeface="Calibri"/>
              </a:rPr>
              <a:t>Capas de datos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55595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81C"/>
                </a:solidFill>
                <a:latin typeface="Calibri"/>
              </a:rPr>
              <a:t>Nativo · SKG · público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UNIR · Máster en Computación Cuántica · Defensa TFM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6E6A"/>
                </a:solidFill>
                <a:latin typeface="Calibri"/>
              </a:rPr>
              <a:t>ALGORITMOS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4181C"/>
                </a:solidFill>
                <a:latin typeface="Calibri"/>
              </a:rPr>
              <a:t>Kernels cuánticos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1234440" cy="45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676656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_zzfeaturemap_circu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67164"/>
            <a:ext cx="6766560" cy="116375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498079" y="1280160"/>
            <a:ext cx="41605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79" y="141732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E6A"/>
                </a:solidFill>
                <a:latin typeface="Calibri"/>
              </a:rPr>
              <a:t>Codificación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171907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81C"/>
                </a:solidFill>
                <a:latin typeface="Calibri"/>
              </a:rPr>
              <a:t>ZZFeatureMap · 2q · reps=2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2240280"/>
            <a:ext cx="41605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26679" y="237744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E6A"/>
                </a:solidFill>
                <a:latin typeface="Calibri"/>
              </a:rPr>
              <a:t>Kernel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267919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81C"/>
                </a:solidFill>
                <a:latin typeface="Calibri"/>
              </a:rPr>
              <a:t>κ = |⟨φ(xᵢ)|φ(xⱼ)⟩|²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3200400"/>
            <a:ext cx="41605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26679" y="333756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E6A"/>
                </a:solidFill>
                <a:latin typeface="Calibri"/>
              </a:rPr>
              <a:t>Modelos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6679" y="363931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81C"/>
                </a:solidFill>
                <a:latin typeface="Calibri"/>
              </a:rPr>
              <a:t>QSVM · QK-SVR · OCSVM-ZZ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79" y="4160520"/>
            <a:ext cx="41605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79" y="429768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E6A"/>
                </a:solidFill>
                <a:latin typeface="Calibri"/>
              </a:rPr>
              <a:t>Control justo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459943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81C"/>
                </a:solidFill>
                <a:latin typeface="Calibri"/>
              </a:rPr>
              <a:t>RBF · mismo C · mismo PCA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79" y="5120640"/>
            <a:ext cx="41605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26679" y="525780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E6A"/>
                </a:solidFill>
                <a:latin typeface="Calibri"/>
              </a:rPr>
              <a:t>Principio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26679" y="555955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81C"/>
                </a:solidFill>
                <a:latin typeface="Calibri"/>
              </a:rPr>
              <a:t>Ventaja si mapa ↔ generador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UNIR · Máster en Computación Cuántica · Defensa TFM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6E6A"/>
                </a:solidFill>
                <a:latin typeface="Calibri"/>
              </a:rPr>
              <a:t>ALGORITMOS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4181C"/>
                </a:solidFill>
                <a:latin typeface="Calibri"/>
              </a:rPr>
              <a:t>Híbridos QAOA / VQE + COBYLA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1234440" cy="45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548640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0_qaoa_converg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770549"/>
            <a:ext cx="5486400" cy="195698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0" y="1234440"/>
            <a:ext cx="548640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0_mds_grafo_soluc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434103"/>
            <a:ext cx="5486400" cy="46298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UNIR · Máster en Computación Cuántica · Defensa TFM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6E6A"/>
                </a:solidFill>
                <a:latin typeface="Calibri"/>
              </a:rPr>
              <a:t>PREGUNTAS ORIGINALES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4181C"/>
                </a:solidFill>
                <a:latin typeface="Calibri"/>
              </a:rPr>
              <a:t>Surgen tras la evidencia de ventaja condicionada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1234440" cy="45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704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737A"/>
                </a:solidFill>
                <a:latin typeface="Calibri"/>
              </a:rPr>
              <a:t>Hallazgo previo: la ventaja en kernels aparece con alineación mapa↔generador y desaparece sin ella.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737A"/>
                </a:solidFill>
                <a:latin typeface="Calibri"/>
              </a:rPr>
              <a:t>Eso abre dos preguntas nuevas (Cap. investigación original):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83080"/>
            <a:ext cx="1115568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73152" cy="205740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6E6A"/>
                </a:solidFill>
                <a:latin typeface="Calibri"/>
              </a:rPr>
              <a:t>P1  ·  TESTS DE CUANTICIDAD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4181C"/>
                </a:solidFill>
                <a:latin typeface="Calibri"/>
              </a:rPr>
              <a:t>¿Existe algún indicador calculable a priori sobre un dataset que permita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14181C"/>
                </a:solidFill>
                <a:latin typeface="Calibri"/>
              </a:rPr>
              <a:t>predecir si un algoritmo cuántico mostrará ventaja sobre los clásicos?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461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737A"/>
                </a:solidFill>
                <a:latin typeface="Calibri"/>
              </a:rPr>
              <a:t>Respuesta propuesta en este TFM: score compuesto Q(D)  (alineación · entropía espectral · d_F)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886200"/>
            <a:ext cx="111556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3886200"/>
            <a:ext cx="73152" cy="2286000"/>
          </a:xfrm>
          <a:prstGeom prst="rect">
            <a:avLst/>
          </a:prstGeom>
          <a:solidFill>
            <a:srgbClr val="0E1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0233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E1216"/>
                </a:solidFill>
                <a:latin typeface="Calibri"/>
              </a:rPr>
              <a:t>P2  ·  MAPEOS CUÁNTICO-COMPATIBLES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89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4181C"/>
                </a:solidFill>
                <a:latin typeface="Calibri"/>
              </a:rPr>
              <a:t>Si un dataset no tiene estructura cuántica nativa, ¿puede transformarse a un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14181C"/>
                </a:solidFill>
                <a:latin typeface="Calibri"/>
              </a:rPr>
              <a:t>espacio de representación donde la tenga, sin alterar la información discriminativa?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4406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737A"/>
                </a:solidFill>
                <a:latin typeface="Calibri"/>
              </a:rPr>
              <a:t>Respuesta propuesta: framework QCR + conjetura del espacio Z (ψ polinómica) — planteada formalmente, abierta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UNIR · Máster en Computación Cuántica · Defensa TFM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6E6A"/>
                </a:solidFill>
                <a:latin typeface="Calibri"/>
              </a:rPr>
              <a:t>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4181C"/>
                </a:solidFill>
                <a:latin typeface="Calibri"/>
              </a:rPr>
              <a:t>Principio de alineación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1234440" cy="45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548640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_quantum_kernel_bounda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992154"/>
            <a:ext cx="5486400" cy="151377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0" y="1234440"/>
            <a:ext cx="548640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6_learning_curves_quantum_advant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896828"/>
            <a:ext cx="5486400" cy="170442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UNIR · Máster en Computación Cuántica · Defensa TFM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6E6A"/>
                </a:solidFill>
                <a:latin typeface="Calibri"/>
              </a:rPr>
              <a:t>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4181C"/>
                </a:solidFill>
                <a:latin typeface="Calibri"/>
              </a:rPr>
              <a:t>Clasificación y optimización — cifras ancla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1234440" cy="45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694944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1_escalabilidad_ventaja_clasific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54591"/>
            <a:ext cx="6949440" cy="378889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280160"/>
            <a:ext cx="3977639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80960" y="1280160"/>
            <a:ext cx="73152" cy="137160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82128" y="1481328"/>
            <a:ext cx="365759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0B6E6A"/>
                </a:solidFill>
                <a:latin typeface="Calibri"/>
              </a:rPr>
              <a:t>+38.3 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82128" y="1965960"/>
            <a:ext cx="365759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737A"/>
                </a:solidFill>
                <a:latin typeface="Calibri"/>
              </a:rPr>
              <a:t>QSVM en datos alineados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80960" y="2834640"/>
            <a:ext cx="3977639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80960" y="2834640"/>
            <a:ext cx="73152" cy="137160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82128" y="3035808"/>
            <a:ext cx="365759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0B6E6A"/>
                </a:solidFill>
                <a:latin typeface="Calibri"/>
              </a:rPr>
              <a:t>−30.3%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2128" y="3520440"/>
            <a:ext cx="365759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737A"/>
                </a:solidFill>
                <a:latin typeface="Calibri"/>
              </a:rPr>
              <a:t>QAOA vs Greedy (asignación)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80960" y="4389120"/>
            <a:ext cx="3977639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80960" y="4389120"/>
            <a:ext cx="73152" cy="137160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82128" y="4590288"/>
            <a:ext cx="365759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0B6E6A"/>
                </a:solidFill>
                <a:latin typeface="Calibri"/>
              </a:rPr>
              <a:t>Empate TSP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82128" y="5074920"/>
            <a:ext cx="365759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737A"/>
                </a:solidFill>
                <a:latin typeface="Calibri"/>
              </a:rPr>
              <a:t>QAOA = NN+2-opt (modelado)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UNIR · Máster en Computación Cuántica · Defensa TFM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6E6A"/>
                </a:solidFill>
                <a:latin typeface="Calibri"/>
              </a:rPr>
              <a:t>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4181C"/>
                </a:solidFill>
                <a:latin typeface="Calibri"/>
              </a:rPr>
              <a:t>Anomalías one-class y forecasting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1234440" cy="45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54864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zz_phase_concept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5486400" cy="36576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0" y="1234440"/>
            <a:ext cx="54864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zz_phase_scores_if_vs_z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849872"/>
            <a:ext cx="5486400" cy="242673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5074920"/>
            <a:ext cx="54864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212080"/>
            <a:ext cx="5120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81C"/>
                </a:solidFill>
                <a:latin typeface="Calibri"/>
              </a:rPr>
              <a:t>zz_phase: OCSVM-ZZ AUC 0.864 vs IF 0.553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81C"/>
                </a:solidFill>
                <a:latin typeface="Calibri"/>
              </a:rPr>
              <a:t>moons/blobs/spikes: gana el clásico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5074920"/>
            <a:ext cx="54864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5212080"/>
            <a:ext cx="5120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81C"/>
                </a:solidFill>
                <a:latin typeface="Calibri"/>
              </a:rPr>
              <a:t>zz_lag: QK-SVR MAE 0.056 vs Ridge 0.414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81C"/>
                </a:solidFill>
                <a:latin typeface="Calibri"/>
              </a:rPr>
              <a:t>sine / skg_speed: gana el clásico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UNIR · Máster en Computación Cuántica · Defensa TFM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6E6A"/>
                </a:solidFill>
                <a:latin typeface="Calibri"/>
              </a:rPr>
              <a:t>RESPUESTA A P1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4181C"/>
                </a:solidFill>
                <a:latin typeface="Calibri"/>
              </a:rPr>
              <a:t>Score Q(D): indicador a priori de ventaja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1234440" cy="45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548640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8_correlacion_indicadores_ventaj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777298"/>
            <a:ext cx="5486400" cy="1943483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0" y="1234440"/>
            <a:ext cx="548640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8_barrido_sintetico_alp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116621"/>
            <a:ext cx="5486400" cy="32648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UNIR · Máster en Computación Cuántica · Defensa TFM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6E6A"/>
                </a:solidFill>
                <a:latin typeface="Calibri"/>
              </a:rPr>
              <a:t>RESULTADOS · P2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4181C"/>
                </a:solidFill>
                <a:latin typeface="Calibri"/>
              </a:rPr>
              <a:t>QCR / mapeos — evidencia preliminar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1234440" cy="45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548640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9_qcr_framework_diagnost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489610"/>
            <a:ext cx="5486400" cy="251885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0" y="1234440"/>
            <a:ext cx="548640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9_mapeos_comparati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805611"/>
            <a:ext cx="5486400" cy="388685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UNIR · Máster en Computación Cuántica · Defensa TFM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6E6A"/>
                </a:solidFill>
                <a:latin typeface="Calibri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4181C"/>
                </a:solidFill>
                <a:latin typeface="Calibri"/>
              </a:rPr>
              <a:t>Mensaje para el tribunal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1234440" cy="45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676656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7_radar_ventaja_cuan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97330"/>
            <a:ext cx="6766560" cy="29034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498079" y="132588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79" y="150876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81C"/>
                </a:solidFill>
                <a:latin typeface="Calibri"/>
              </a:rPr>
              <a:t>Ventaja real pero condicionada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210312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26679" y="228600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81C"/>
                </a:solidFill>
                <a:latin typeface="Calibri"/>
              </a:rPr>
              <a:t>Kernels: solo con alineación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79" y="288036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26679" y="306324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81C"/>
                </a:solidFill>
                <a:latin typeface="Calibri"/>
              </a:rPr>
              <a:t>Híbridos: valor en QUBO moderado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365760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26679" y="384048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81C"/>
                </a:solidFill>
                <a:latin typeface="Calibri"/>
              </a:rPr>
              <a:t>Q(D): diagnóstico útil (ρ_S=0.833)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79" y="443484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26679" y="461772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81C"/>
                </a:solidFill>
                <a:latin typeface="Calibri"/>
              </a:rPr>
              <a:t>QCR: planteado, no demostrado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79" y="521208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26679" y="539496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81C"/>
                </a:solidFill>
                <a:latin typeface="Calibri"/>
              </a:rPr>
              <a:t>Adopción: selectiva e híbrida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UNIR · Máster en Computación Cuántica · Defensa TFM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6E6A"/>
                </a:solidFill>
                <a:latin typeface="Calibri"/>
              </a:rPr>
              <a:t>LIMITACIONES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4181C"/>
                </a:solidFill>
                <a:latin typeface="Calibri"/>
              </a:rPr>
              <a:t>Lo que este TFM no cierra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1234440" cy="45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111556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6E6A"/>
                </a:solidFill>
                <a:latin typeface="Calibri"/>
              </a:rPr>
              <a:t>Simulación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55448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4181C"/>
                </a:solidFill>
                <a:latin typeface="Calibri"/>
              </a:rPr>
              <a:t>Statevector exacto — sin ruido NISQ de hardware real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40280"/>
            <a:ext cx="111556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4688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6E6A"/>
                </a:solidFill>
                <a:latin typeface="Calibri"/>
              </a:rPr>
              <a:t>Dimensionalidad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46888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4181C"/>
                </a:solidFill>
                <a:latin typeface="Calibri"/>
              </a:rPr>
              <a:t>ZZ 2 qubits → PCA agresivo (~68% varianza fuera)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154680"/>
            <a:ext cx="111556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6E6A"/>
                </a:solidFill>
                <a:latin typeface="Calibri"/>
              </a:rPr>
              <a:t>QCR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38328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4181C"/>
                </a:solidFill>
                <a:latin typeface="Calibri"/>
              </a:rPr>
              <a:t>Formalmente planteado; validación fuerte = post-TFM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069080"/>
            <a:ext cx="111556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2976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6E6A"/>
                </a:solidFill>
                <a:latin typeface="Calibri"/>
              </a:rPr>
              <a:t>n en datos reales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429768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4181C"/>
                </a:solidFill>
                <a:latin typeface="Calibri"/>
              </a:rPr>
              <a:t>Correlación Q(D) orientativa; ancla = barrido sintético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983480"/>
            <a:ext cx="111556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12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6E6A"/>
                </a:solidFill>
                <a:latin typeface="Calibri"/>
              </a:rPr>
              <a:t>TSP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521208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4181C"/>
                </a:solidFill>
                <a:latin typeface="Calibri"/>
              </a:rPr>
              <a:t>Empate óptimo ≠ speedup; valor de modelado QUBO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UNIR · Máster en Computación Cuántica · Defensa TFM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6E6A"/>
                </a:solidFill>
                <a:latin typeface="Calibri"/>
              </a:rPr>
              <a:t>APORTES Y FUTURO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4181C"/>
                </a:solidFill>
                <a:latin typeface="Calibri"/>
              </a:rPr>
              <a:t>Qué queda cerrado / qué sigue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1234440" cy="45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548640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5486400" cy="59436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44475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APORTES DE ESTE TFM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• Mapa empírico en 9 casos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• Protocolos justos reproducibles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• Score Q(D) con evidencia sintética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• QCR formalmente planteado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• Arquitectura híbrida selectiva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• Delimitación honesta de no-ventaja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325880"/>
            <a:ext cx="548640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325880"/>
            <a:ext cx="5486400" cy="594360"/>
          </a:xfrm>
          <a:prstGeom prst="rect">
            <a:avLst/>
          </a:prstGeom>
          <a:solidFill>
            <a:srgbClr val="0E1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44475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LÍNEAS POST-TFM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9456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• Hardware ruidoso / shots reales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• Más qubits / menos PCA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• Validación fuerte de QCR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• Q-means / autoencoders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• Benchmarks con separación formal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• Integración operativa selectiva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UNIR · Máster en Computación Cuántica · Defensa TFM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6E6A"/>
                </a:solidFill>
                <a:latin typeface="Calibri"/>
              </a:rPr>
              <a:t>CONCLUSIÓN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La ventaja cuántica es real pero condicionada.</a:t>
            </a:r>
          </a:p>
          <a:p>
            <a:pPr algn="l"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Diagnosticar · remapear si procede ·</a:t>
            </a:r>
          </a:p>
          <a:p>
            <a:pPr algn="l"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activar de forma selectiva e híbrida.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548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A8B0B8"/>
                </a:solidFill>
                <a:latin typeface="Calibri"/>
              </a:rPr>
              <a:t>No sustituye al stack clásico. Lo complementa cuando la geometría o el QUBO lo justifican.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669280"/>
            <a:ext cx="2011680" cy="45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Gracias  ·  ¿Preguntas?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