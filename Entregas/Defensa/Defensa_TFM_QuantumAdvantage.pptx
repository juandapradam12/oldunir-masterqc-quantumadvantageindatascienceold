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394960"/>
            <a:ext cx="12191695" cy="1463040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457200"/>
            <a:ext cx="2350839" cy="640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8288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Georgia"/>
              </a:rPr>
              <a:t>Análisis de la ventaja cuántica</a:t>
            </a:r>
            <a:br/>
            <a:r>
              <a:t>en casos aplicados de ciencia de datos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6576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8C4CC"/>
                </a:solidFill>
                <a:latin typeface="Calibri"/>
              </a:rPr>
              <a:t>Estudio empírico · Kernels cuánticos · Algoritmos híbridos · Score de cuanticidad · Framework QCR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6235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Juan David Prada Malagón  ·  Dir. Ricardo Rafael Domínguez Reyes</a:t>
            </a:r>
            <a:br/>
            <a:r>
              <a:t>Máster en Computación Cuántica · UNIR · Defensa TFM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232E"/>
                </a:solidFill>
                <a:latin typeface="Georgia"/>
              </a:rPr>
              <a:t>Motivación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C6B73"/>
                </a:solidFill>
                <a:latin typeface="Calibri"/>
              </a:rPr>
              <a:t>Brecha entre promesas teóricas y evidencia reproducible (era NISQ)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0">
                <a:solidFill>
                  <a:srgbClr val="1A232E"/>
                </a:solidFill>
                <a:latin typeface="Calibri"/>
              </a:rPr>
              <a:t>•  Metodologías cuánticas maduras (QAOA, VQE, kernels)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1A232E"/>
                </a:solidFill>
                <a:latin typeface="Calibri"/>
              </a:rPr>
              <a:t>•  Hardware NISQ: ruido, qubits limitados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1A232E"/>
                </a:solidFill>
                <a:latin typeface="Calibri"/>
              </a:rPr>
              <a:t>•  Pocos estudios comparativos justos sobre problemas de industria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1A232E"/>
                </a:solidFill>
                <a:latin typeface="Calibri"/>
              </a:rPr>
              <a:t>•  Necesidad: condiciones medibles de ventaja — no hype</a:t>
            </a:r>
          </a:p>
        </p:txBody>
      </p:sp>
      <p:pic>
        <p:nvPicPr>
          <p:cNvPr id="7" name="Picture 6" descr="07_complejidad_cuantico_vs_clasi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371600"/>
            <a:ext cx="5760720" cy="17129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644652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5C6B73"/>
                </a:solidFill>
                <a:latin typeface="Calibri"/>
              </a:rPr>
              <a:t>TFM · UNIR · Computación Cuántica  ·  2/18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232E"/>
                </a:solidFill>
                <a:latin typeface="Georgia"/>
              </a:rPr>
              <a:t>Formulación de la tesis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C6B73"/>
                </a:solidFill>
                <a:latin typeface="Calibri"/>
              </a:rPr>
              <a:t>Pregunta central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645920"/>
            <a:ext cx="10972800" cy="2194560"/>
          </a:xfrm>
          <a:prstGeom prst="roundRect">
            <a:avLst/>
          </a:prstGeom>
          <a:solidFill>
            <a:srgbClr val="FFFFFF"/>
          </a:solidFill>
          <a:ln>
            <a:solidFill>
              <a:srgbClr val="D4CF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104241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1A232E"/>
                </a:solidFill>
                <a:latin typeface="Georgia"/>
              </a:rPr>
              <a:t>¿En qué condiciones, y para qué tipos de problemas de ciencia de datos,</a:t>
            </a:r>
            <a:br/>
            <a:r>
              <a:t>los algoritmos cuánticos NISQ ofrecen una ventaja real y medible</a:t>
            </a:r>
            <a:br/>
            <a:r>
              <a:t>frente a los algoritmos clásicos?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20624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5C6B73"/>
                </a:solidFill>
                <a:latin typeface="Calibri"/>
              </a:rPr>
              <a:t>Hipótesis de trabajo: la ventaja es real pero condicionada —</a:t>
            </a:r>
            <a:br/>
            <a:r>
              <a:t>alineación feature map ↔ generador de datos, o problemas QUBO con diseño híbrido.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5C6B73"/>
                </a:solidFill>
                <a:latin typeface="Calibri"/>
              </a:rPr>
              <a:t>TFM · UNIR · Computación Cuántica  ·  3/18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232E"/>
                </a:solidFill>
                <a:latin typeface="Georgia"/>
              </a:rPr>
              <a:t>Objetivos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C6B73"/>
                </a:solidFill>
                <a:latin typeface="Calibri"/>
              </a:rPr>
              <a:t>General y específicos (síntesis visual)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28800"/>
            <a:ext cx="2697480" cy="2926080"/>
          </a:xfrm>
          <a:prstGeom prst="roundRect">
            <a:avLst/>
          </a:prstGeom>
          <a:solidFill>
            <a:srgbClr val="FFFFFF"/>
          </a:solidFill>
          <a:ln>
            <a:solidFill>
              <a:srgbClr val="D4CF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057400"/>
            <a:ext cx="2423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0E7C7B"/>
                </a:solidFill>
                <a:latin typeface="Georgia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834640"/>
            <a:ext cx="2423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1A232E"/>
                </a:solidFill>
                <a:latin typeface="Calibri"/>
              </a:rPr>
              <a:t>Comparar cuántico vs clásico</a:t>
            </a:r>
            <a:br/>
            <a:r>
              <a:t>en 9 casos de uso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29000" y="1828800"/>
            <a:ext cx="2697480" cy="2926080"/>
          </a:xfrm>
          <a:prstGeom prst="roundRect">
            <a:avLst/>
          </a:prstGeom>
          <a:solidFill>
            <a:srgbClr val="FFFFFF"/>
          </a:solidFill>
          <a:ln>
            <a:solidFill>
              <a:srgbClr val="D4CF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66160" y="2057400"/>
            <a:ext cx="2423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0E7C7B"/>
                </a:solidFill>
                <a:latin typeface="Georgia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0" y="2834640"/>
            <a:ext cx="2423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1A232E"/>
                </a:solidFill>
                <a:latin typeface="Calibri"/>
              </a:rPr>
              <a:t>Caracterizar el patrón</a:t>
            </a:r>
            <a:br/>
            <a:r>
              <a:t>híbrido QAOA / VQE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59" y="1828800"/>
            <a:ext cx="2697480" cy="2926080"/>
          </a:xfrm>
          <a:prstGeom prst="roundRect">
            <a:avLst/>
          </a:prstGeom>
          <a:solidFill>
            <a:srgbClr val="FFFFFF"/>
          </a:solidFill>
          <a:ln>
            <a:solidFill>
              <a:srgbClr val="D4CF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19" y="2057400"/>
            <a:ext cx="2423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0E7C7B"/>
                </a:solidFill>
                <a:latin typeface="Georgia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19" y="2834640"/>
            <a:ext cx="2423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1A232E"/>
                </a:solidFill>
                <a:latin typeface="Calibri"/>
              </a:rPr>
              <a:t>Proponer score de</a:t>
            </a:r>
            <a:br/>
            <a:r>
              <a:t>cuanticidad Q(D)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89719" y="1828800"/>
            <a:ext cx="2697480" cy="2926080"/>
          </a:xfrm>
          <a:prstGeom prst="roundRect">
            <a:avLst/>
          </a:prstGeom>
          <a:solidFill>
            <a:srgbClr val="FFFFFF"/>
          </a:solidFill>
          <a:ln>
            <a:solidFill>
              <a:srgbClr val="D4CF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79" y="2057400"/>
            <a:ext cx="2423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0E7C7B"/>
                </a:solidFill>
                <a:latin typeface="Georgia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6879" y="2834640"/>
            <a:ext cx="2423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1A232E"/>
                </a:solidFill>
                <a:latin typeface="Calibri"/>
              </a:rPr>
              <a:t>Plantear framework QCR</a:t>
            </a:r>
            <a:br/>
            <a:r>
              <a:t>(espacio de representación)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4652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5C6B73"/>
                </a:solidFill>
                <a:latin typeface="Calibri"/>
              </a:rPr>
              <a:t>TFM · UNIR · Computación Cuántica  ·  4/18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232E"/>
                </a:solidFill>
                <a:latin typeface="Georgia"/>
              </a:rPr>
              <a:t>Metodología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C6B73"/>
                </a:solidFill>
                <a:latin typeface="Calibri"/>
              </a:rPr>
              <a:t>Nueve casos · tres capas de datos · protocolos justos</a:t>
            </a:r>
          </a:p>
        </p:txBody>
      </p:sp>
      <p:pic>
        <p:nvPicPr>
          <p:cNvPr id="6" name="Picture 5" descr="07_dashboard_ventaja_cuant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34440"/>
            <a:ext cx="11430000" cy="1083342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644652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5C6B73"/>
                </a:solidFill>
                <a:latin typeface="Calibri"/>
              </a:rPr>
              <a:t>TFM · UNIR · Computación Cuántica  ·  5/18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232E"/>
                </a:solidFill>
                <a:latin typeface="Georgia"/>
              </a:rPr>
              <a:t>Diseño experimental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C6B73"/>
                </a:solidFill>
                <a:latin typeface="Calibri"/>
              </a:rPr>
              <a:t>Familias de problema × capas de datos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A232E"/>
                </a:solidFill>
                <a:latin typeface="Calibri"/>
              </a:rPr>
              <a:t>•  Clasificación — QSVM (kernel ZZ)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A232E"/>
                </a:solidFill>
                <a:latin typeface="Calibri"/>
              </a:rPr>
              <a:t>•  Regresión — QK-SVR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A232E"/>
                </a:solidFill>
                <a:latin typeface="Calibri"/>
              </a:rPr>
              <a:t>•  Optimización — QAOA / VQE (híbrido + COBYLA)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A232E"/>
                </a:solidFill>
                <a:latin typeface="Calibri"/>
              </a:rPr>
              <a:t>•  Anomalías one-class — OCSVM-ZZ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A232E"/>
                </a:solidFill>
                <a:latin typeface="Calibri"/>
              </a:rPr>
              <a:t>•  Forecasting por lags — QK-SVR</a:t>
            </a:r>
          </a:p>
          <a:p>
            <a:pPr>
              <a:spcAft>
                <a:spcPts val="1000"/>
              </a:spcAft>
            </a:pP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A232E"/>
                </a:solidFill>
                <a:latin typeface="Calibri"/>
              </a:rPr>
              <a:t>•  Datos: sintéticos cuántico-nativos · SKG · públicos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A232E"/>
                </a:solidFill>
                <a:latin typeface="Calibri"/>
              </a:rPr>
              <a:t>•  Stack: Qiskit 2.x · simulación statevector · baselines scikit-learn</a:t>
            </a:r>
          </a:p>
        </p:txBody>
      </p:sp>
      <p:pic>
        <p:nvPicPr>
          <p:cNvPr id="7" name="Picture 6" descr="07_heatmap_ventaja_por_domin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1325880"/>
            <a:ext cx="5852160" cy="454483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644652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5C6B73"/>
                </a:solidFill>
                <a:latin typeface="Calibri"/>
              </a:rPr>
              <a:t>TFM · UNIR · Computación Cuántica  ·  6/18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232E"/>
                </a:solidFill>
                <a:latin typeface="Georgia"/>
              </a:rPr>
              <a:t>Algoritmos — kernels cuánticos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C6B73"/>
                </a:solidFill>
                <a:latin typeface="Calibri"/>
              </a:rPr>
              <a:t>ZZFeatureMap → fidelidad → SVM / SVR / OCSVM</a:t>
            </a:r>
          </a:p>
        </p:txBody>
      </p:sp>
      <p:pic>
        <p:nvPicPr>
          <p:cNvPr id="6" name="Picture 5" descr="06_zzfeaturemap_circu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5669280" cy="97503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0" y="146304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A232E"/>
                </a:solidFill>
                <a:latin typeface="Calibri"/>
              </a:rPr>
              <a:t>•  Codificación: ZZFeatureMap (2 qubits, reps=2)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A232E"/>
                </a:solidFill>
                <a:latin typeface="Calibri"/>
              </a:rPr>
              <a:t>•  Kernel: κ(xᵢ,xⱼ)=|⟨φ(xᵢ)|φ(xⱼ)⟩|²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A232E"/>
                </a:solidFill>
                <a:latin typeface="Calibri"/>
              </a:rPr>
              <a:t>•  Modelos: QSVM · QK-SVR · OCSVM-ZZ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A232E"/>
                </a:solidFill>
                <a:latin typeface="Calibri"/>
              </a:rPr>
              <a:t>•  Control: SVM/SVR-RBF, mismos C / PCA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A232E"/>
                </a:solidFill>
                <a:latin typeface="Calibri"/>
              </a:rPr>
              <a:t>•  Principio: ventaja si mapa ↔ generador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5C6B73"/>
                </a:solidFill>
                <a:latin typeface="Calibri"/>
              </a:rPr>
              <a:t>TFM · UNIR · Computación Cuántica  ·  7/18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232E"/>
                </a:solidFill>
                <a:latin typeface="Georgia"/>
              </a:rPr>
              <a:t>Algoritmos — híbridos QAOA / VQE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C6B73"/>
                </a:solidFill>
                <a:latin typeface="Calibri"/>
              </a:rPr>
              <a:t>Módulo cuántico + optimizador clásico (COBYLA)</a:t>
            </a:r>
          </a:p>
        </p:txBody>
      </p:sp>
      <p:pic>
        <p:nvPicPr>
          <p:cNvPr id="6" name="Picture 5" descr="10_qaoa_convergen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80160"/>
            <a:ext cx="5760720" cy="2054832"/>
          </a:xfrm>
          <a:prstGeom prst="rect">
            <a:avLst/>
          </a:prstGeom>
        </p:spPr>
      </p:pic>
      <p:pic>
        <p:nvPicPr>
          <p:cNvPr id="7" name="Picture 6" descr="10_mds_grafo_soluc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280160"/>
            <a:ext cx="5394960" cy="455270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580644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5C6B73"/>
                </a:solidFill>
                <a:latin typeface="Calibri"/>
              </a:rPr>
              <a:t>QUBO → Hamiltoniano → ansatz variacional · Casos 3, 4, 5 (TSP) y 7 (conjunto dominante)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5C6B73"/>
                </a:solidFill>
                <a:latin typeface="Calibri"/>
              </a:rPr>
              <a:t>TFM · UNIR · Computación Cuántica  ·  8/18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232E"/>
                </a:solidFill>
                <a:latin typeface="Georgia"/>
              </a:rPr>
              <a:t>Problemas de investigación planteados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C6B73"/>
                </a:solidFill>
                <a:latin typeface="Calibri"/>
              </a:rPr>
              <a:t>Contribución original del TFM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5486400" cy="3657600"/>
          </a:xfrm>
          <a:prstGeom prst="roundRect">
            <a:avLst/>
          </a:prstGeom>
          <a:solidFill>
            <a:srgbClr val="FFFFFF"/>
          </a:solidFill>
          <a:ln>
            <a:solidFill>
              <a:srgbClr val="D4CF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554480"/>
            <a:ext cx="5486400" cy="640080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64208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P1 — Tests de cuanticidad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560320"/>
            <a:ext cx="4846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1A232E"/>
                </a:solidFill>
                <a:latin typeface="Georgia"/>
              </a:rPr>
              <a:t>¿Existe un indicador calculable a priori</a:t>
            </a:r>
            <a:br/>
            <a:r>
              <a:t>que prediga si un algoritmo cuántico</a:t>
            </a:r>
            <a:br/>
            <a:r>
              <a:t>mostrará ventaja?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59" y="1554480"/>
            <a:ext cx="5486400" cy="3657600"/>
          </a:xfrm>
          <a:prstGeom prst="roundRect">
            <a:avLst/>
          </a:prstGeom>
          <a:solidFill>
            <a:srgbClr val="FFFFFF"/>
          </a:solidFill>
          <a:ln>
            <a:solidFill>
              <a:srgbClr val="D4CF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09359" y="1554480"/>
            <a:ext cx="5486400" cy="640080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39" y="1664208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P2 — Espacio de representación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399" y="2560320"/>
            <a:ext cx="4846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1A232E"/>
                </a:solidFill>
                <a:latin typeface="Georgia"/>
              </a:rPr>
              <a:t>Si el dataset no tiene estructura cuántica,</a:t>
            </a:r>
            <a:br/>
            <a:r>
              <a:t>¿puede transformarse a un espacio donde</a:t>
            </a:r>
            <a:br/>
            <a:r>
              <a:t>sí la tenga, sin perder señal?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4652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5C6B73"/>
                </a:solidFill>
                <a:latin typeface="Calibri"/>
              </a:rPr>
              <a:t>TFM · UNIR · Computación Cuántica  ·  9/18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232E"/>
                </a:solidFill>
                <a:latin typeface="Georgia"/>
              </a:rPr>
              <a:t>Formalización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C6B73"/>
                </a:solidFill>
                <a:latin typeface="Calibri"/>
              </a:rPr>
              <a:t>Score Q(D) · Framework QCR (planteado formalmente)</a:t>
            </a:r>
          </a:p>
        </p:txBody>
      </p:sp>
      <p:pic>
        <p:nvPicPr>
          <p:cNvPr id="6" name="Picture 5" descr="09_qcr_framework_diagnosti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34440"/>
            <a:ext cx="6583680" cy="302263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132320" y="1463040"/>
            <a:ext cx="43891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0">
                <a:solidFill>
                  <a:srgbClr val="1A232E"/>
                </a:solidFill>
                <a:latin typeface="Calibri"/>
              </a:rPr>
              <a:t>•  Q(D): alineación, entropía espectral, d_F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1A232E"/>
                </a:solidFill>
                <a:latin typeface="Calibri"/>
              </a:rPr>
              <a:t>•  Diagnóstico antes de entrenar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1A232E"/>
                </a:solidFill>
                <a:latin typeface="Calibri"/>
              </a:rPr>
              <a:t>•  QCR: buscar ψ que maximice Q(T(D))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1A232E"/>
                </a:solidFill>
                <a:latin typeface="Calibri"/>
              </a:rPr>
              <a:t>•  Conjetura abierta — evidencia preliminar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1A232E"/>
                </a:solidFill>
                <a:latin typeface="Calibri"/>
              </a:rPr>
              <a:t>•  No se afirma demostración fuerte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5C6B73"/>
                </a:solidFill>
                <a:latin typeface="Calibri"/>
              </a:rPr>
              <a:t>TFM · UNIR · Computación Cuántica  ·  10/18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232E"/>
                </a:solidFill>
                <a:latin typeface="Georgia"/>
              </a:rPr>
              <a:t>Resultados — principio de alineación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C6B73"/>
                </a:solidFill>
                <a:latin typeface="Calibri"/>
              </a:rPr>
              <a:t>El feature map alineado gana; ZZ es el mapa medido aquí</a:t>
            </a:r>
          </a:p>
        </p:txBody>
      </p:sp>
      <p:pic>
        <p:nvPicPr>
          <p:cNvPr id="6" name="Picture 5" descr="06_quantum_kernel_bounda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5852160" cy="1614690"/>
          </a:xfrm>
          <a:prstGeom prst="rect">
            <a:avLst/>
          </a:prstGeom>
        </p:spPr>
      </p:pic>
      <p:pic>
        <p:nvPicPr>
          <p:cNvPr id="7" name="Picture 6" descr="06_learning_curves_quantum_advant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188720"/>
            <a:ext cx="5577840" cy="173283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644652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5C6B73"/>
                </a:solidFill>
                <a:latin typeface="Calibri"/>
              </a:rPr>
              <a:t>TFM · UNIR · Computación Cuántica  ·  11/18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232E"/>
                </a:solidFill>
                <a:latin typeface="Georgia"/>
              </a:rPr>
              <a:t>Resultados — clasificación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C6B73"/>
                </a:solidFill>
                <a:latin typeface="Calibri"/>
              </a:rPr>
              <a:t>+38.3 pp en datos alineados · clásico en datos reales sin alineación</a:t>
            </a:r>
          </a:p>
        </p:txBody>
      </p:sp>
      <p:pic>
        <p:nvPicPr>
          <p:cNvPr id="6" name="Picture 5" descr="01_escalabilidad_ventaja_clasific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5852160" cy="3190651"/>
          </a:xfrm>
          <a:prstGeom prst="rect">
            <a:avLst/>
          </a:prstGeom>
        </p:spPr>
      </p:pic>
      <p:pic>
        <p:nvPicPr>
          <p:cNvPr id="7" name="Picture 6" descr="01_qsvm_vs_svm_direct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371600"/>
            <a:ext cx="5577840" cy="232253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644652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5C6B73"/>
                </a:solidFill>
                <a:latin typeface="Calibri"/>
              </a:rPr>
              <a:t>TFM · UNIR · Computación Cuántica  ·  12/18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232E"/>
                </a:solidFill>
                <a:latin typeface="Georgia"/>
              </a:rPr>
              <a:t>Resultados — optimización híbrida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C6B73"/>
                </a:solidFill>
                <a:latin typeface="Calibri"/>
              </a:rPr>
              <a:t>QAOA −30.3% coste vs Greedy · TSP empate óptimo (modelado)</a:t>
            </a:r>
          </a:p>
        </p:txBody>
      </p:sp>
      <p:pic>
        <p:nvPicPr>
          <p:cNvPr id="6" name="Picture 5" descr="10_qaoa_histograma_medi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34440"/>
            <a:ext cx="5669280" cy="3321817"/>
          </a:xfrm>
          <a:prstGeom prst="rect">
            <a:avLst/>
          </a:prstGeom>
        </p:spPr>
      </p:pic>
      <p:pic>
        <p:nvPicPr>
          <p:cNvPr id="7" name="Picture 6" descr="07_kernel_advantage_detal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234440"/>
            <a:ext cx="5486400" cy="203872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644652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5C6B73"/>
                </a:solidFill>
                <a:latin typeface="Calibri"/>
              </a:rPr>
              <a:t>TFM · UNIR · Computación Cuántica  ·  13/18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232E"/>
                </a:solidFill>
                <a:latin typeface="Georgia"/>
              </a:rPr>
              <a:t>Resultados — anomalías one-class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C6B73"/>
                </a:solidFill>
                <a:latin typeface="Calibri"/>
              </a:rPr>
              <a:t>Ventaja solo si la novedad es de fase (zz_phase)</a:t>
            </a:r>
          </a:p>
        </p:txBody>
      </p:sp>
      <p:pic>
        <p:nvPicPr>
          <p:cNvPr id="6" name="Picture 5" descr="zz_phase_concept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34440"/>
            <a:ext cx="5760720" cy="3840480"/>
          </a:xfrm>
          <a:prstGeom prst="rect">
            <a:avLst/>
          </a:prstGeom>
        </p:spPr>
      </p:pic>
      <p:pic>
        <p:nvPicPr>
          <p:cNvPr id="7" name="Picture 6" descr="zz_phase_scores_if_vs_z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1371600"/>
            <a:ext cx="5669280" cy="25076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644652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5C6B73"/>
                </a:solidFill>
                <a:latin typeface="Calibri"/>
              </a:rPr>
              <a:t>TFM · UNIR · Computación Cuántica  ·  14/18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232E"/>
                </a:solidFill>
                <a:latin typeface="Georgia"/>
              </a:rPr>
              <a:t>Resultados — score de cuanticidad Q(D)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C6B73"/>
                </a:solidFill>
                <a:latin typeface="Calibri"/>
              </a:rPr>
              <a:t>ρ_S = 0.833 (p = 0.005, n = 9) en barrido sintético</a:t>
            </a:r>
          </a:p>
        </p:txBody>
      </p:sp>
      <p:pic>
        <p:nvPicPr>
          <p:cNvPr id="6" name="Picture 5" descr="08_correlacion_indicadores_ventaj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5852160" cy="2073049"/>
          </a:xfrm>
          <a:prstGeom prst="rect">
            <a:avLst/>
          </a:prstGeom>
        </p:spPr>
      </p:pic>
      <p:pic>
        <p:nvPicPr>
          <p:cNvPr id="7" name="Picture 6" descr="08_barrido_sintetico_alph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188720"/>
            <a:ext cx="5577840" cy="331925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644652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5C6B73"/>
                </a:solidFill>
                <a:latin typeface="Calibri"/>
              </a:rPr>
              <a:t>TFM · UNIR · Computación Cuántica  ·  15/18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232E"/>
                </a:solidFill>
                <a:latin typeface="Georgia"/>
              </a:rPr>
              <a:t>Resultados — mapeos y QCR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C6B73"/>
                </a:solidFill>
                <a:latin typeface="Calibri"/>
              </a:rPr>
              <a:t>Evidencia preliminar · validación fuerte = post-TFM</a:t>
            </a:r>
          </a:p>
        </p:txBody>
      </p:sp>
      <p:pic>
        <p:nvPicPr>
          <p:cNvPr id="6" name="Picture 5" descr="09_mapeos_comparativ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5852160" cy="4145983"/>
          </a:xfrm>
          <a:prstGeom prst="rect">
            <a:avLst/>
          </a:prstGeom>
        </p:spPr>
      </p:pic>
      <p:pic>
        <p:nvPicPr>
          <p:cNvPr id="7" name="Picture 6" descr="09_barrido_rotacion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188720"/>
            <a:ext cx="5577840" cy="213270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644652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5C6B73"/>
                </a:solidFill>
                <a:latin typeface="Calibri"/>
              </a:rPr>
              <a:t>TFM · UNIR · Computación Cuántica  ·  16/18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232E"/>
                </a:solidFill>
                <a:latin typeface="Georgia"/>
              </a:rPr>
              <a:t>Síntesis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C6B73"/>
                </a:solidFill>
                <a:latin typeface="Calibri"/>
              </a:rPr>
              <a:t>Ventaja real pero condicionada · adopción selectiva e híbrida</a:t>
            </a:r>
          </a:p>
        </p:txBody>
      </p:sp>
      <p:pic>
        <p:nvPicPr>
          <p:cNvPr id="6" name="Picture 5" descr="07_radar_ventaja_cuant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143000"/>
            <a:ext cx="9326880" cy="400201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644652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5C6B73"/>
                </a:solidFill>
                <a:latin typeface="Calibri"/>
              </a:rPr>
              <a:t>TFM · UNIR · Computación Cuántica  ·  17/18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6984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Georgia"/>
              </a:rPr>
              <a:t>La ventaja cuántica es real pero condicionada.</a:t>
            </a:r>
            <a:br/>
            <a:r>
              <a:t>Diagnosticar · remapear si procede · activar de forma selectiva.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02336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B8C4CC"/>
                </a:solidFill>
                <a:latin typeface="Calibri"/>
              </a:rPr>
              <a:t>Aportes: mapa empírico (9 casos) · Q(D) · QCR formalmente planteado · arquitectura híbrida</a:t>
            </a:r>
            <a:br/>
            <a:br/>
            <a:r>
              <a:t>¿Preguntas?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76072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0E7C7B"/>
                </a:solidFill>
                <a:latin typeface="Georgia"/>
              </a:rPr>
              <a:t>Gracias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